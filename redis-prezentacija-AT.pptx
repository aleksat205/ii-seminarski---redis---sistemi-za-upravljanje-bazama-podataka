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03719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905185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21112159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9273876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5079307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726185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31253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17326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16453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3222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8504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479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085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28869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4692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5988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8807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37767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951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35328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47297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56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23493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0714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7421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03367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53484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79082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2657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65154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460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20895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2252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4038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93410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86461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9283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9667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63955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702855" name="Shape 0"/>
          <p:cNvSpPr/>
          <p:nvPr/>
        </p:nvSpPr>
        <p:spPr bwMode="auto">
          <a:xfrm>
            <a:off x="6217920" y="-1097280"/>
            <a:ext cx="4572000" cy="4572000"/>
          </a:xfrm>
          <a:prstGeom prst="ellipse">
            <a:avLst/>
          </a:prstGeom>
          <a:solidFill>
            <a:srgbClr val="0077B6">
              <a:alpha val="12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01645091" name="Text 4"/>
          <p:cNvSpPr/>
          <p:nvPr/>
        </p:nvSpPr>
        <p:spPr bwMode="auto">
          <a:xfrm>
            <a:off x="457200" y="77724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Replikacija i visoka</a:t>
            </a:r>
            <a:endParaRPr lang="en-US" sz="3600"/>
          </a:p>
          <a:p>
            <a:pPr marL="0" indent="0" algn="l">
              <a:buNone/>
              <a:defRPr/>
            </a:pPr>
            <a:r>
              <a:rPr lang="en-US" sz="36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dostupnost u Redis-u</a:t>
            </a:r>
            <a:endParaRPr lang="en-US" sz="3600"/>
          </a:p>
        </p:txBody>
      </p:sp>
      <p:sp>
        <p:nvSpPr>
          <p:cNvPr id="1068386310" name="Text 5"/>
          <p:cNvSpPr/>
          <p:nvPr/>
        </p:nvSpPr>
        <p:spPr bwMode="auto">
          <a:xfrm>
            <a:off x="457200" y="2514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Redis Sentinel arhitektura, automatski failover</a:t>
            </a:r>
            <a:endParaRPr lang="en-US" sz="1400"/>
          </a:p>
          <a:p>
            <a:pPr marL="0" indent="0" algn="l">
              <a:buNone/>
              <a:defRPr/>
            </a:pPr>
            <a:r>
              <a:rPr lang="en-US" sz="14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i mehanizmi visoke dostupnosti</a:t>
            </a:r>
            <a:endParaRPr lang="en-US" sz="1400"/>
          </a:p>
        </p:txBody>
      </p:sp>
      <p:sp>
        <p:nvSpPr>
          <p:cNvPr id="214362156" name="Shape 6"/>
          <p:cNvSpPr/>
          <p:nvPr/>
        </p:nvSpPr>
        <p:spPr bwMode="auto">
          <a:xfrm>
            <a:off x="457200" y="3273552"/>
            <a:ext cx="5029200" cy="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</p:sp>
      <p:sp>
        <p:nvSpPr>
          <p:cNvPr id="2002073006" name="Text 7"/>
          <p:cNvSpPr/>
          <p:nvPr/>
        </p:nvSpPr>
        <p:spPr bwMode="auto">
          <a:xfrm flipH="0" flipV="0">
            <a:off x="411480" y="4114800"/>
            <a:ext cx="8321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300" b="0" i="0" u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Student: </a:t>
            </a:r>
            <a:r>
              <a:rPr sz="1300" b="0" i="0" u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Aleksa Tomić</a:t>
            </a:r>
            <a:r>
              <a:rPr sz="1300" b="0" i="0" u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, broj indeksa 1812		</a:t>
            </a:r>
            <a:r>
              <a:rPr lang="sr-Latn-RS" sz="1300" b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               Profesor: </a:t>
            </a:r>
            <a:r>
              <a:rPr sz="1300" b="0" i="0" u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prof. dr</a:t>
            </a:r>
            <a:r>
              <a:rPr lang="sr-Latn-RS" sz="1300" b="0" i="0" u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Aleksandar S. Stanimirović</a:t>
            </a:r>
            <a:endParaRPr lang="en-US" sz="1300"/>
          </a:p>
        </p:txBody>
      </p:sp>
      <p:sp>
        <p:nvSpPr>
          <p:cNvPr id="1143711158" name="Text 8"/>
          <p:cNvSpPr/>
          <p:nvPr/>
        </p:nvSpPr>
        <p:spPr bwMode="auto">
          <a:xfrm flipH="0" flipV="0">
            <a:off x="457200" y="3184737"/>
            <a:ext cx="7315200" cy="36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  <a:defRPr/>
            </a:pPr>
            <a:endParaRPr lang="en-US" sz="1100">
              <a:solidFill>
                <a:srgbClr val="4A6FA5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sr-Latn-RS" sz="1100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r-Latn-RS" sz="1100" b="1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Predment: </a:t>
            </a:r>
            <a:r>
              <a:rPr lang="en-US" sz="1100" b="0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Sistemi za upravljanje bazama podataka</a:t>
            </a:r>
            <a:r>
              <a:rPr lang="sr-Latn-RS" sz="1100" b="0" i="0" u="none" strike="noStrike" cap="none" spc="0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 -</a:t>
            </a:r>
            <a:r>
              <a:rPr lang="sr-Latn-RS" sz="1100"/>
              <a:t> </a:t>
            </a:r>
            <a:r>
              <a:rPr lang="en-US" sz="1100" b="0" i="0" u="none" strike="noStrike" cap="none" spc="0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Elektronski fakultet Niš </a:t>
            </a:r>
            <a:endParaRPr lang="en-US" sz="1100"/>
          </a:p>
        </p:txBody>
      </p:sp>
      <p:sp>
        <p:nvSpPr>
          <p:cNvPr id="1565087917" name="Shape 9"/>
          <p:cNvSpPr/>
          <p:nvPr/>
        </p:nvSpPr>
        <p:spPr bwMode="auto">
          <a:xfrm flipH="0" flipV="0">
            <a:off x="6631614" y="1389887"/>
            <a:ext cx="2007250" cy="1975104"/>
          </a:xfrm>
          <a:prstGeom prst="roundRect">
            <a:avLst>
              <a:gd name="adj" fmla="val 8000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231764323" name="Text 10"/>
          <p:cNvSpPr/>
          <p:nvPr/>
        </p:nvSpPr>
        <p:spPr bwMode="auto">
          <a:xfrm>
            <a:off x="6492240" y="175342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400" b="1">
                <a:solidFill>
                  <a:srgbClr val="EF233C"/>
                </a:solidFill>
                <a:latin typeface="Calibri"/>
                <a:ea typeface="Calibri"/>
                <a:cs typeface="Calibri"/>
              </a:rPr>
              <a:t>Redis</a:t>
            </a:r>
            <a:endParaRPr lang="en-US" sz="3400"/>
          </a:p>
        </p:txBody>
      </p:sp>
      <p:sp>
        <p:nvSpPr>
          <p:cNvPr id="1800392416" name="Text 11"/>
          <p:cNvSpPr/>
          <p:nvPr/>
        </p:nvSpPr>
        <p:spPr bwMode="auto">
          <a:xfrm>
            <a:off x="649224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0" i="0" u="none" strike="noStrike" cap="none" spc="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Sentinel </a:t>
            </a:r>
            <a:endParaRPr lang="en-US" sz="1300"/>
          </a:p>
        </p:txBody>
      </p:sp>
      <p:sp>
        <p:nvSpPr>
          <p:cNvPr id="428696525" name="Text 12"/>
          <p:cNvSpPr/>
          <p:nvPr/>
        </p:nvSpPr>
        <p:spPr bwMode="auto">
          <a:xfrm>
            <a:off x="6492240" y="2542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i="1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in-memory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427228" name="Text 0"/>
          <p:cNvSpPr/>
          <p:nvPr/>
        </p:nvSpPr>
        <p:spPr bwMode="auto"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Šta je Redis?</a:t>
            </a:r>
            <a:endParaRPr lang="en-US" sz="3000"/>
          </a:p>
        </p:txBody>
      </p:sp>
      <p:sp>
        <p:nvSpPr>
          <p:cNvPr id="1044552457" name="Shape 1"/>
          <p:cNvSpPr/>
          <p:nvPr/>
        </p:nvSpPr>
        <p:spPr bwMode="auto">
          <a:xfrm>
            <a:off x="457200" y="941832"/>
            <a:ext cx="822960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2025270084" name="Text 2"/>
          <p:cNvSpPr/>
          <p:nvPr/>
        </p:nvSpPr>
        <p:spPr bwMode="auto">
          <a:xfrm>
            <a:off x="457200" y="10972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Remote Dictionary Server — in-memory sistem za skladištenje podataka koji sve čuva u RAM-u.</a:t>
            </a:r>
            <a:endParaRPr lang="en-US" sz="1300"/>
          </a:p>
        </p:txBody>
      </p:sp>
      <p:sp>
        <p:nvSpPr>
          <p:cNvPr id="82381882" name="Shape 3"/>
          <p:cNvSpPr/>
          <p:nvPr/>
        </p:nvSpPr>
        <p:spPr bwMode="auto">
          <a:xfrm>
            <a:off x="457200" y="1874520"/>
            <a:ext cx="1325880" cy="1188720"/>
          </a:xfrm>
          <a:prstGeom prst="roundRect">
            <a:avLst>
              <a:gd name="adj" fmla="val 9231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969682168" name="Text 4"/>
          <p:cNvSpPr/>
          <p:nvPr/>
        </p:nvSpPr>
        <p:spPr bwMode="auto">
          <a:xfrm>
            <a:off x="457200" y="19659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&lt; 1</a:t>
            </a:r>
            <a:r>
              <a:rPr lang="sr-Latn-RS" sz="22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2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ms</a:t>
            </a:r>
            <a:endParaRPr lang="en-US" sz="2200"/>
          </a:p>
        </p:txBody>
      </p:sp>
      <p:sp>
        <p:nvSpPr>
          <p:cNvPr id="756814478" name="Text 5"/>
          <p:cNvSpPr/>
          <p:nvPr/>
        </p:nvSpPr>
        <p:spPr bwMode="auto">
          <a:xfrm>
            <a:off x="457200" y="2487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latencija</a:t>
            </a:r>
            <a:endParaRPr lang="en-US" sz="1000"/>
          </a:p>
        </p:txBody>
      </p:sp>
      <p:sp>
        <p:nvSpPr>
          <p:cNvPr id="258290501" name="Shape 6"/>
          <p:cNvSpPr/>
          <p:nvPr/>
        </p:nvSpPr>
        <p:spPr bwMode="auto">
          <a:xfrm>
            <a:off x="1920240" y="1874520"/>
            <a:ext cx="1325880" cy="1188720"/>
          </a:xfrm>
          <a:prstGeom prst="roundRect">
            <a:avLst>
              <a:gd name="adj" fmla="val 9231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542236987" name="Text 7"/>
          <p:cNvSpPr/>
          <p:nvPr/>
        </p:nvSpPr>
        <p:spPr bwMode="auto">
          <a:xfrm>
            <a:off x="1920240" y="19659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06D6A0"/>
                </a:solidFill>
                <a:latin typeface="Calibri"/>
                <a:ea typeface="Calibri"/>
                <a:cs typeface="Calibri"/>
              </a:rPr>
              <a:t>&gt; 1</a:t>
            </a:r>
            <a:r>
              <a:rPr lang="sr-Latn-RS" sz="2200" b="1">
                <a:solidFill>
                  <a:srgbClr val="06D6A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200" b="1">
                <a:solidFill>
                  <a:srgbClr val="06D6A0"/>
                </a:solidFill>
                <a:latin typeface="Calibri"/>
                <a:ea typeface="Calibri"/>
                <a:cs typeface="Calibri"/>
              </a:rPr>
              <a:t>M</a:t>
            </a:r>
            <a:endParaRPr lang="en-US" sz="2200"/>
          </a:p>
        </p:txBody>
      </p:sp>
      <p:sp>
        <p:nvSpPr>
          <p:cNvPr id="632303048" name="Text 8"/>
          <p:cNvSpPr/>
          <p:nvPr/>
        </p:nvSpPr>
        <p:spPr bwMode="auto">
          <a:xfrm>
            <a:off x="1920240" y="2487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ops/sec</a:t>
            </a:r>
            <a:endParaRPr lang="en-US" sz="1000"/>
          </a:p>
        </p:txBody>
      </p:sp>
      <p:sp>
        <p:nvSpPr>
          <p:cNvPr id="437609732" name="Shape 9"/>
          <p:cNvSpPr/>
          <p:nvPr/>
        </p:nvSpPr>
        <p:spPr bwMode="auto">
          <a:xfrm>
            <a:off x="3383280" y="1874520"/>
            <a:ext cx="1325880" cy="1188720"/>
          </a:xfrm>
          <a:prstGeom prst="roundRect">
            <a:avLst>
              <a:gd name="adj" fmla="val 9231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420441056" name="Text 10"/>
          <p:cNvSpPr/>
          <p:nvPr/>
        </p:nvSpPr>
        <p:spPr bwMode="auto">
          <a:xfrm>
            <a:off x="3383280" y="19659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2009.</a:t>
            </a:r>
            <a:endParaRPr lang="en-US" sz="2200"/>
          </a:p>
        </p:txBody>
      </p:sp>
      <p:sp>
        <p:nvSpPr>
          <p:cNvPr id="1477653078" name="Text 11"/>
          <p:cNvSpPr/>
          <p:nvPr/>
        </p:nvSpPr>
        <p:spPr bwMode="auto">
          <a:xfrm>
            <a:off x="3383280" y="2487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godina nastanka</a:t>
            </a:r>
            <a:endParaRPr lang="en-US" sz="1000"/>
          </a:p>
        </p:txBody>
      </p:sp>
      <p:sp>
        <p:nvSpPr>
          <p:cNvPr id="615045569" name="Text 12"/>
          <p:cNvSpPr/>
          <p:nvPr/>
        </p:nvSpPr>
        <p:spPr bwMode="auto">
          <a:xfrm>
            <a:off x="457200" y="3273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Podržani tipovi podataka</a:t>
            </a:r>
            <a:endParaRPr lang="en-US" sz="1200"/>
          </a:p>
        </p:txBody>
      </p:sp>
      <p:sp>
        <p:nvSpPr>
          <p:cNvPr id="1929412938" name="Shape 13"/>
          <p:cNvSpPr/>
          <p:nvPr/>
        </p:nvSpPr>
        <p:spPr bwMode="auto">
          <a:xfrm>
            <a:off x="457200" y="364845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8412732" name="Text 14"/>
          <p:cNvSpPr/>
          <p:nvPr/>
        </p:nvSpPr>
        <p:spPr bwMode="auto">
          <a:xfrm>
            <a:off x="640080" y="3611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String</a:t>
            </a:r>
            <a:endParaRPr lang="en-US" sz="1200"/>
          </a:p>
        </p:txBody>
      </p:sp>
      <p:sp>
        <p:nvSpPr>
          <p:cNvPr id="688814998" name="Shape 15"/>
          <p:cNvSpPr/>
          <p:nvPr/>
        </p:nvSpPr>
        <p:spPr bwMode="auto">
          <a:xfrm>
            <a:off x="1828800" y="364845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24260143" name="Text 16"/>
          <p:cNvSpPr/>
          <p:nvPr/>
        </p:nvSpPr>
        <p:spPr bwMode="auto">
          <a:xfrm>
            <a:off x="2011680" y="3611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List</a:t>
            </a:r>
            <a:endParaRPr lang="en-US" sz="1200"/>
          </a:p>
        </p:txBody>
      </p:sp>
      <p:sp>
        <p:nvSpPr>
          <p:cNvPr id="655410889" name="Shape 17"/>
          <p:cNvSpPr/>
          <p:nvPr/>
        </p:nvSpPr>
        <p:spPr bwMode="auto">
          <a:xfrm>
            <a:off x="3200400" y="364845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49998836" name="Text 18"/>
          <p:cNvSpPr/>
          <p:nvPr/>
        </p:nvSpPr>
        <p:spPr bwMode="auto">
          <a:xfrm>
            <a:off x="3383280" y="3611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Hash</a:t>
            </a:r>
            <a:endParaRPr lang="en-US" sz="1200"/>
          </a:p>
        </p:txBody>
      </p:sp>
      <p:sp>
        <p:nvSpPr>
          <p:cNvPr id="1895865268" name="Shape 19"/>
          <p:cNvSpPr/>
          <p:nvPr/>
        </p:nvSpPr>
        <p:spPr bwMode="auto">
          <a:xfrm>
            <a:off x="457200" y="4032504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09747947" name="Text 20"/>
          <p:cNvSpPr/>
          <p:nvPr/>
        </p:nvSpPr>
        <p:spPr bwMode="auto">
          <a:xfrm>
            <a:off x="640080" y="39959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Set</a:t>
            </a:r>
            <a:endParaRPr lang="en-US" sz="1200"/>
          </a:p>
        </p:txBody>
      </p:sp>
      <p:sp>
        <p:nvSpPr>
          <p:cNvPr id="1113269277" name="Shape 21"/>
          <p:cNvSpPr/>
          <p:nvPr/>
        </p:nvSpPr>
        <p:spPr bwMode="auto">
          <a:xfrm>
            <a:off x="1828800" y="4032504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28664201" name="Text 22"/>
          <p:cNvSpPr/>
          <p:nvPr/>
        </p:nvSpPr>
        <p:spPr bwMode="auto">
          <a:xfrm>
            <a:off x="2011680" y="39959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Sorted Set</a:t>
            </a:r>
            <a:endParaRPr lang="en-US" sz="1200"/>
          </a:p>
        </p:txBody>
      </p:sp>
      <p:sp>
        <p:nvSpPr>
          <p:cNvPr id="1694251302" name="Shape 23"/>
          <p:cNvSpPr/>
          <p:nvPr/>
        </p:nvSpPr>
        <p:spPr bwMode="auto">
          <a:xfrm>
            <a:off x="3200400" y="4032504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65048254" name="Text 24"/>
          <p:cNvSpPr/>
          <p:nvPr/>
        </p:nvSpPr>
        <p:spPr bwMode="auto">
          <a:xfrm>
            <a:off x="3383280" y="39959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Stream</a:t>
            </a:r>
            <a:endParaRPr lang="en-US" sz="1200"/>
          </a:p>
        </p:txBody>
      </p:sp>
      <p:sp>
        <p:nvSpPr>
          <p:cNvPr id="511902046" name="Shape 25"/>
          <p:cNvSpPr/>
          <p:nvPr/>
        </p:nvSpPr>
        <p:spPr bwMode="auto">
          <a:xfrm>
            <a:off x="4846320" y="1078992"/>
            <a:ext cx="3977640" cy="3749040"/>
          </a:xfrm>
          <a:prstGeom prst="roundRect">
            <a:avLst>
              <a:gd name="adj" fmla="val 2927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2146151258" name="Text 26"/>
          <p:cNvSpPr/>
          <p:nvPr/>
        </p:nvSpPr>
        <p:spPr bwMode="auto">
          <a:xfrm>
            <a:off x="50292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Ko koristi Redis?</a:t>
            </a:r>
            <a:endParaRPr lang="en-US" sz="1400"/>
          </a:p>
        </p:txBody>
      </p:sp>
      <p:sp>
        <p:nvSpPr>
          <p:cNvPr id="33819926" name="Shape 27"/>
          <p:cNvSpPr/>
          <p:nvPr/>
        </p:nvSpPr>
        <p:spPr bwMode="auto">
          <a:xfrm>
            <a:off x="5029200" y="1728216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80282263" name="Text 28"/>
          <p:cNvSpPr/>
          <p:nvPr/>
        </p:nvSpPr>
        <p:spPr bwMode="auto">
          <a:xfrm>
            <a:off x="5257800" y="1664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Twitter / X</a:t>
            </a:r>
            <a:endParaRPr lang="en-US" sz="1200"/>
          </a:p>
        </p:txBody>
      </p:sp>
      <p:sp>
        <p:nvSpPr>
          <p:cNvPr id="55689924" name="Text 29"/>
          <p:cNvSpPr/>
          <p:nvPr/>
        </p:nvSpPr>
        <p:spPr bwMode="auto">
          <a:xfrm>
            <a:off x="5257800" y="19385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Timeline keš, brojači korisnika</a:t>
            </a:r>
            <a:endParaRPr lang="en-US" sz="1000"/>
          </a:p>
        </p:txBody>
      </p:sp>
      <p:sp>
        <p:nvSpPr>
          <p:cNvPr id="1192174747" name="Shape 30"/>
          <p:cNvSpPr/>
          <p:nvPr/>
        </p:nvSpPr>
        <p:spPr bwMode="auto">
          <a:xfrm>
            <a:off x="5029200" y="2331720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92399710" name="Text 31"/>
          <p:cNvSpPr/>
          <p:nvPr/>
        </p:nvSpPr>
        <p:spPr bwMode="auto">
          <a:xfrm>
            <a:off x="5257800" y="2267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GitHub</a:t>
            </a:r>
            <a:endParaRPr lang="en-US" sz="1200"/>
          </a:p>
        </p:txBody>
      </p:sp>
      <p:sp>
        <p:nvSpPr>
          <p:cNvPr id="2039858771" name="Text 32"/>
          <p:cNvSpPr/>
          <p:nvPr/>
        </p:nvSpPr>
        <p:spPr bwMode="auto">
          <a:xfrm>
            <a:off x="5257800" y="2542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Rate limiting, sesije</a:t>
            </a:r>
            <a:endParaRPr lang="en-US" sz="1000"/>
          </a:p>
        </p:txBody>
      </p:sp>
      <p:sp>
        <p:nvSpPr>
          <p:cNvPr id="632732246" name="Shape 33"/>
          <p:cNvSpPr/>
          <p:nvPr/>
        </p:nvSpPr>
        <p:spPr bwMode="auto">
          <a:xfrm>
            <a:off x="5029200" y="2935224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96640324" name="Text 34"/>
          <p:cNvSpPr/>
          <p:nvPr/>
        </p:nvSpPr>
        <p:spPr bwMode="auto">
          <a:xfrm>
            <a:off x="5257800" y="28712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Airbnb</a:t>
            </a:r>
            <a:endParaRPr lang="en-US" sz="1200"/>
          </a:p>
        </p:txBody>
      </p:sp>
      <p:sp>
        <p:nvSpPr>
          <p:cNvPr id="459893710" name="Text 35"/>
          <p:cNvSpPr/>
          <p:nvPr/>
        </p:nvSpPr>
        <p:spPr bwMode="auto">
          <a:xfrm>
            <a:off x="5257800" y="314553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Cene u realnom vremenu</a:t>
            </a:r>
            <a:endParaRPr lang="en-US" sz="1000"/>
          </a:p>
        </p:txBody>
      </p:sp>
      <p:sp>
        <p:nvSpPr>
          <p:cNvPr id="836844601" name="Shape 36"/>
          <p:cNvSpPr/>
          <p:nvPr/>
        </p:nvSpPr>
        <p:spPr bwMode="auto">
          <a:xfrm>
            <a:off x="5029200" y="3538728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6414555" name="Text 37"/>
          <p:cNvSpPr/>
          <p:nvPr/>
        </p:nvSpPr>
        <p:spPr bwMode="auto">
          <a:xfrm>
            <a:off x="525780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Slack</a:t>
            </a:r>
            <a:endParaRPr lang="en-US" sz="1200"/>
          </a:p>
        </p:txBody>
      </p:sp>
      <p:sp>
        <p:nvSpPr>
          <p:cNvPr id="198515463" name="Text 38"/>
          <p:cNvSpPr/>
          <p:nvPr/>
        </p:nvSpPr>
        <p:spPr bwMode="auto">
          <a:xfrm>
            <a:off x="5257800" y="3749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Online prisustvo, poruke</a:t>
            </a:r>
            <a:endParaRPr lang="en-US" sz="1000"/>
          </a:p>
        </p:txBody>
      </p:sp>
      <p:sp>
        <p:nvSpPr>
          <p:cNvPr id="2055917846" name="Shape 39"/>
          <p:cNvSpPr/>
          <p:nvPr/>
        </p:nvSpPr>
        <p:spPr bwMode="auto">
          <a:xfrm>
            <a:off x="5029200" y="4142232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31881724" name="Text 40"/>
          <p:cNvSpPr/>
          <p:nvPr/>
        </p:nvSpPr>
        <p:spPr bwMode="auto">
          <a:xfrm>
            <a:off x="5257800" y="4078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Stack Overflow</a:t>
            </a:r>
            <a:endParaRPr lang="en-US" sz="1200"/>
          </a:p>
        </p:txBody>
      </p:sp>
      <p:sp>
        <p:nvSpPr>
          <p:cNvPr id="1490303950" name="Text 41"/>
          <p:cNvSpPr/>
          <p:nvPr/>
        </p:nvSpPr>
        <p:spPr bwMode="auto">
          <a:xfrm>
            <a:off x="5257800" y="43525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Tag engine, keš upita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122632" name="Text 0"/>
          <p:cNvSpPr/>
          <p:nvPr/>
        </p:nvSpPr>
        <p:spPr bwMode="auto"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CAP teorem — gde stoji Redis?</a:t>
            </a:r>
            <a:endParaRPr lang="en-US" sz="3000"/>
          </a:p>
        </p:txBody>
      </p:sp>
      <p:sp>
        <p:nvSpPr>
          <p:cNvPr id="280610229" name="Shape 1"/>
          <p:cNvSpPr/>
          <p:nvPr/>
        </p:nvSpPr>
        <p:spPr bwMode="auto">
          <a:xfrm>
            <a:off x="457200" y="941832"/>
            <a:ext cx="822960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301149237" name="Shape 2"/>
          <p:cNvSpPr/>
          <p:nvPr/>
        </p:nvSpPr>
        <p:spPr bwMode="auto">
          <a:xfrm>
            <a:off x="457200" y="109728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71104983" name="Text 3"/>
          <p:cNvSpPr/>
          <p:nvPr/>
        </p:nvSpPr>
        <p:spPr bwMode="auto">
          <a:xfrm>
            <a:off x="457200" y="1188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4200" b="1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C</a:t>
            </a:r>
            <a:endParaRPr lang="en-US" sz="4200"/>
          </a:p>
        </p:txBody>
      </p:sp>
      <p:sp>
        <p:nvSpPr>
          <p:cNvPr id="1514772640" name="Text 4"/>
          <p:cNvSpPr/>
          <p:nvPr/>
        </p:nvSpPr>
        <p:spPr bwMode="auto">
          <a:xfrm>
            <a:off x="457200" y="1901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Konzistentnost</a:t>
            </a:r>
            <a:endParaRPr lang="en-US" sz="1200"/>
          </a:p>
        </p:txBody>
      </p:sp>
      <p:sp>
        <p:nvSpPr>
          <p:cNvPr id="280136719" name="Text 5"/>
          <p:cNvSpPr/>
          <p:nvPr/>
        </p:nvSpPr>
        <p:spPr bwMode="auto">
          <a:xfrm>
            <a:off x="594360" y="22128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Svaki čvor uvek vraća najskoriji podatak</a:t>
            </a:r>
            <a:endParaRPr lang="en-US" sz="1000"/>
          </a:p>
        </p:txBody>
      </p:sp>
      <p:sp>
        <p:nvSpPr>
          <p:cNvPr id="686169429" name="Shape 6"/>
          <p:cNvSpPr/>
          <p:nvPr/>
        </p:nvSpPr>
        <p:spPr bwMode="auto">
          <a:xfrm>
            <a:off x="3291840" y="109728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1A3050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790022186" name="Text 7"/>
          <p:cNvSpPr/>
          <p:nvPr/>
        </p:nvSpPr>
        <p:spPr bwMode="auto">
          <a:xfrm>
            <a:off x="3291840" y="1417319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42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A</a:t>
            </a:r>
            <a:endParaRPr lang="en-US" sz="4200"/>
          </a:p>
        </p:txBody>
      </p:sp>
      <p:sp>
        <p:nvSpPr>
          <p:cNvPr id="2087132906" name="Text 8"/>
          <p:cNvSpPr/>
          <p:nvPr/>
        </p:nvSpPr>
        <p:spPr bwMode="auto">
          <a:xfrm>
            <a:off x="329184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Dostupnost</a:t>
            </a:r>
            <a:endParaRPr lang="en-US" sz="1200"/>
          </a:p>
        </p:txBody>
      </p:sp>
      <p:sp>
        <p:nvSpPr>
          <p:cNvPr id="2110428026" name="Text 9"/>
          <p:cNvSpPr/>
          <p:nvPr/>
        </p:nvSpPr>
        <p:spPr bwMode="auto">
          <a:xfrm>
            <a:off x="3429000" y="234315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Svaki zahtev uvek dobija odgovor</a:t>
            </a:r>
            <a:endParaRPr lang="en-US" sz="1000"/>
          </a:p>
        </p:txBody>
      </p:sp>
      <p:sp>
        <p:nvSpPr>
          <p:cNvPr id="1422225796" name="Shape 10"/>
          <p:cNvSpPr/>
          <p:nvPr/>
        </p:nvSpPr>
        <p:spPr bwMode="auto">
          <a:xfrm>
            <a:off x="3977640" y="1188720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72315497" name="Text 11"/>
          <p:cNvSpPr/>
          <p:nvPr/>
        </p:nvSpPr>
        <p:spPr bwMode="auto">
          <a:xfrm>
            <a:off x="3977640" y="1188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Redis bira ✓</a:t>
            </a:r>
            <a:endParaRPr lang="en-US" sz="1000"/>
          </a:p>
        </p:txBody>
      </p:sp>
      <p:sp>
        <p:nvSpPr>
          <p:cNvPr id="1556872177" name="Shape 12"/>
          <p:cNvSpPr/>
          <p:nvPr/>
        </p:nvSpPr>
        <p:spPr bwMode="auto">
          <a:xfrm>
            <a:off x="6126480" y="109728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1A3050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914596329" name="Text 13"/>
          <p:cNvSpPr/>
          <p:nvPr/>
        </p:nvSpPr>
        <p:spPr bwMode="auto">
          <a:xfrm>
            <a:off x="6126480" y="1417319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42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P</a:t>
            </a:r>
            <a:endParaRPr lang="en-US" sz="4200"/>
          </a:p>
        </p:txBody>
      </p:sp>
      <p:sp>
        <p:nvSpPr>
          <p:cNvPr id="2004062877" name="Text 14"/>
          <p:cNvSpPr/>
          <p:nvPr/>
        </p:nvSpPr>
        <p:spPr bwMode="auto">
          <a:xfrm>
            <a:off x="612648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Part. tolerancija</a:t>
            </a:r>
            <a:endParaRPr lang="en-US" sz="1200"/>
          </a:p>
        </p:txBody>
      </p:sp>
      <p:sp>
        <p:nvSpPr>
          <p:cNvPr id="1901000868" name="Text 15"/>
          <p:cNvSpPr/>
          <p:nvPr/>
        </p:nvSpPr>
        <p:spPr bwMode="auto">
          <a:xfrm>
            <a:off x="6263640" y="234315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Sistem radi i tokom mrežnih problema</a:t>
            </a:r>
            <a:endParaRPr lang="en-US" sz="1000"/>
          </a:p>
        </p:txBody>
      </p:sp>
      <p:sp>
        <p:nvSpPr>
          <p:cNvPr id="474442913" name="Shape 16"/>
          <p:cNvSpPr/>
          <p:nvPr/>
        </p:nvSpPr>
        <p:spPr bwMode="auto">
          <a:xfrm>
            <a:off x="6812280" y="1188720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21524411" name="Text 17"/>
          <p:cNvSpPr/>
          <p:nvPr/>
        </p:nvSpPr>
        <p:spPr bwMode="auto">
          <a:xfrm>
            <a:off x="6812280" y="1188719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Redis bira ✓</a:t>
            </a:r>
            <a:endParaRPr lang="en-US" sz="1000"/>
          </a:p>
        </p:txBody>
      </p:sp>
      <p:sp>
        <p:nvSpPr>
          <p:cNvPr id="2134798492" name="Shape 18"/>
          <p:cNvSpPr/>
          <p:nvPr/>
        </p:nvSpPr>
        <p:spPr bwMode="auto">
          <a:xfrm>
            <a:off x="457200" y="3310127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429039336" name="Text 19"/>
          <p:cNvSpPr/>
          <p:nvPr/>
        </p:nvSpPr>
        <p:spPr bwMode="auto">
          <a:xfrm>
            <a:off x="68580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Zašto AP?</a:t>
            </a:r>
            <a:endParaRPr lang="en-US" sz="1300"/>
          </a:p>
        </p:txBody>
      </p:sp>
      <p:sp>
        <p:nvSpPr>
          <p:cNvPr id="531904341" name="Text 20"/>
          <p:cNvSpPr/>
          <p:nvPr/>
        </p:nvSpPr>
        <p:spPr bwMode="auto">
          <a:xfrm>
            <a:off x="685800" y="37490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Redis koristi asinhonu replikaciju — master potvrdi operaciju klijentu odmah, bez čekanja replike.</a:t>
            </a:r>
            <a:endParaRPr lang="en-US" sz="1200"/>
          </a:p>
          <a:p>
            <a:pPr marL="0" indent="0">
              <a:buNone/>
              <a:defRPr/>
            </a:pPr>
            <a:r>
              <a:rPr lang="en-US" sz="12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To znači kratki prozor nekonzistentnosti, ali uvek dostupan sistem. Za 90% slučajeva (keš, sesije, brojači) ovo je prihvatljiva razmena.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95190" name="Text 0"/>
          <p:cNvSpPr/>
          <p:nvPr/>
        </p:nvSpPr>
        <p:spPr bwMode="auto"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Kako funkcioniše replikacija?</a:t>
            </a:r>
            <a:endParaRPr lang="en-US" sz="3000"/>
          </a:p>
        </p:txBody>
      </p:sp>
      <p:sp>
        <p:nvSpPr>
          <p:cNvPr id="368507626" name="Shape 1"/>
          <p:cNvSpPr/>
          <p:nvPr/>
        </p:nvSpPr>
        <p:spPr bwMode="auto">
          <a:xfrm>
            <a:off x="457200" y="941832"/>
            <a:ext cx="822960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825928393" name="Shape 2"/>
          <p:cNvSpPr/>
          <p:nvPr/>
        </p:nvSpPr>
        <p:spPr bwMode="auto">
          <a:xfrm>
            <a:off x="457200" y="118872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1A1A3A"/>
          </a:solidFill>
          <a:ln w="25400">
            <a:solidFill>
              <a:srgbClr val="EF233C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004407068" name="Text 3"/>
          <p:cNvSpPr/>
          <p:nvPr/>
        </p:nvSpPr>
        <p:spPr bwMode="auto">
          <a:xfrm>
            <a:off x="45720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EF233C"/>
                </a:solidFill>
                <a:latin typeface="Calibri"/>
                <a:ea typeface="Calibri"/>
                <a:cs typeface="Calibri"/>
              </a:rPr>
              <a:t>MASTER</a:t>
            </a:r>
            <a:endParaRPr lang="en-US" sz="1300"/>
          </a:p>
        </p:txBody>
      </p:sp>
      <p:sp>
        <p:nvSpPr>
          <p:cNvPr id="45688087" name="Text 4"/>
          <p:cNvSpPr/>
          <p:nvPr/>
        </p:nvSpPr>
        <p:spPr bwMode="auto">
          <a:xfrm>
            <a:off x="457200" y="16276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:6379</a:t>
            </a:r>
            <a:endParaRPr lang="en-US" sz="1100"/>
          </a:p>
        </p:txBody>
      </p:sp>
      <p:sp>
        <p:nvSpPr>
          <p:cNvPr id="1300092516" name="Shape 5"/>
          <p:cNvSpPr/>
          <p:nvPr/>
        </p:nvSpPr>
        <p:spPr bwMode="auto">
          <a:xfrm>
            <a:off x="2651760" y="1618488"/>
            <a:ext cx="10058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</p:sp>
      <p:sp>
        <p:nvSpPr>
          <p:cNvPr id="402008363" name="Text 6"/>
          <p:cNvSpPr/>
          <p:nvPr/>
        </p:nvSpPr>
        <p:spPr bwMode="auto">
          <a:xfrm>
            <a:off x="2670048" y="143560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i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async</a:t>
            </a:r>
            <a:endParaRPr lang="en-US" sz="900"/>
          </a:p>
        </p:txBody>
      </p:sp>
      <p:sp>
        <p:nvSpPr>
          <p:cNvPr id="1933584760" name="Shape 7"/>
          <p:cNvSpPr/>
          <p:nvPr/>
        </p:nvSpPr>
        <p:spPr bwMode="auto">
          <a:xfrm>
            <a:off x="3657600" y="118872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162840"/>
          </a:solidFill>
          <a:ln w="12700">
            <a:solidFill>
              <a:srgbClr val="0077B6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621089999" name="Text 8"/>
          <p:cNvSpPr/>
          <p:nvPr/>
        </p:nvSpPr>
        <p:spPr bwMode="auto">
          <a:xfrm>
            <a:off x="3657600" y="1280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REPLIKA 1</a:t>
            </a:r>
            <a:endParaRPr lang="en-US" sz="1200"/>
          </a:p>
        </p:txBody>
      </p:sp>
      <p:sp>
        <p:nvSpPr>
          <p:cNvPr id="1985902788" name="Text 9"/>
          <p:cNvSpPr/>
          <p:nvPr/>
        </p:nvSpPr>
        <p:spPr bwMode="auto">
          <a:xfrm>
            <a:off x="3657600" y="16642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:6380</a:t>
            </a:r>
            <a:endParaRPr lang="en-US" sz="1000"/>
          </a:p>
        </p:txBody>
      </p:sp>
      <p:sp>
        <p:nvSpPr>
          <p:cNvPr id="1600541063" name="Shape 10"/>
          <p:cNvSpPr/>
          <p:nvPr/>
        </p:nvSpPr>
        <p:spPr bwMode="auto">
          <a:xfrm>
            <a:off x="2651760" y="2761488"/>
            <a:ext cx="10058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</p:sp>
      <p:sp>
        <p:nvSpPr>
          <p:cNvPr id="1457517492" name="Text 11"/>
          <p:cNvSpPr/>
          <p:nvPr/>
        </p:nvSpPr>
        <p:spPr bwMode="auto">
          <a:xfrm>
            <a:off x="2670048" y="257860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i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async</a:t>
            </a:r>
            <a:endParaRPr lang="en-US" sz="900"/>
          </a:p>
        </p:txBody>
      </p:sp>
      <p:sp>
        <p:nvSpPr>
          <p:cNvPr id="1762548862" name="Shape 12"/>
          <p:cNvSpPr/>
          <p:nvPr/>
        </p:nvSpPr>
        <p:spPr bwMode="auto">
          <a:xfrm>
            <a:off x="3657600" y="233172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162840"/>
          </a:solidFill>
          <a:ln w="12700">
            <a:solidFill>
              <a:srgbClr val="0077B6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970359071" name="Text 13"/>
          <p:cNvSpPr/>
          <p:nvPr/>
        </p:nvSpPr>
        <p:spPr bwMode="auto">
          <a:xfrm>
            <a:off x="3657600" y="2459735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REPLIKA 2</a:t>
            </a:r>
            <a:endParaRPr lang="en-US" sz="1200"/>
          </a:p>
        </p:txBody>
      </p:sp>
      <p:sp>
        <p:nvSpPr>
          <p:cNvPr id="653962609" name="Text 14"/>
          <p:cNvSpPr/>
          <p:nvPr/>
        </p:nvSpPr>
        <p:spPr bwMode="auto">
          <a:xfrm>
            <a:off x="3657600" y="2770631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:6381</a:t>
            </a:r>
            <a:endParaRPr lang="en-US" sz="1000"/>
          </a:p>
        </p:txBody>
      </p:sp>
      <p:sp>
        <p:nvSpPr>
          <p:cNvPr id="1600569629" name="Text 15"/>
          <p:cNvSpPr/>
          <p:nvPr/>
        </p:nvSpPr>
        <p:spPr bwMode="auto">
          <a:xfrm>
            <a:off x="5943600" y="10789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Faze uspostavljanja replikacije</a:t>
            </a:r>
            <a:r>
              <a:rPr lang="sr-Latn-RS" sz="1200" b="1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200"/>
          </a:p>
        </p:txBody>
      </p:sp>
      <p:sp>
        <p:nvSpPr>
          <p:cNvPr id="1655481968" name="Shape 16"/>
          <p:cNvSpPr/>
          <p:nvPr/>
        </p:nvSpPr>
        <p:spPr bwMode="auto">
          <a:xfrm>
            <a:off x="5943600" y="1499616"/>
            <a:ext cx="292608" cy="29260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22778710" name="Text 17"/>
          <p:cNvSpPr/>
          <p:nvPr/>
        </p:nvSpPr>
        <p:spPr bwMode="auto">
          <a:xfrm>
            <a:off x="5943600" y="1499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100"/>
          </a:p>
        </p:txBody>
      </p:sp>
      <p:sp>
        <p:nvSpPr>
          <p:cNvPr id="805069637" name="Text 18"/>
          <p:cNvSpPr/>
          <p:nvPr/>
        </p:nvSpPr>
        <p:spPr bwMode="auto">
          <a:xfrm>
            <a:off x="6309360" y="1463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PSYNC komanda</a:t>
            </a:r>
            <a:endParaRPr lang="en-US" sz="1200"/>
          </a:p>
        </p:txBody>
      </p:sp>
      <p:sp>
        <p:nvSpPr>
          <p:cNvPr id="1135631992" name="Text 19"/>
          <p:cNvSpPr/>
          <p:nvPr/>
        </p:nvSpPr>
        <p:spPr bwMode="auto">
          <a:xfrm>
            <a:off x="6309360" y="1737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Replika šalje replication ID i offset</a:t>
            </a:r>
            <a:endParaRPr lang="en-US" sz="1000"/>
          </a:p>
        </p:txBody>
      </p:sp>
      <p:sp>
        <p:nvSpPr>
          <p:cNvPr id="1415669537" name="Shape 20"/>
          <p:cNvSpPr/>
          <p:nvPr/>
        </p:nvSpPr>
        <p:spPr bwMode="auto">
          <a:xfrm>
            <a:off x="5943600" y="2304288"/>
            <a:ext cx="292608" cy="29260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51332748" name="Text 21"/>
          <p:cNvSpPr/>
          <p:nvPr/>
        </p:nvSpPr>
        <p:spPr bwMode="auto">
          <a:xfrm>
            <a:off x="5943600" y="2304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100"/>
          </a:p>
        </p:txBody>
      </p:sp>
      <p:sp>
        <p:nvSpPr>
          <p:cNvPr id="2108770859" name="Text 22"/>
          <p:cNvSpPr/>
          <p:nvPr/>
        </p:nvSpPr>
        <p:spPr bwMode="auto">
          <a:xfrm>
            <a:off x="6309360" y="22677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Full / Partial sync</a:t>
            </a:r>
            <a:endParaRPr lang="en-US" sz="1200"/>
          </a:p>
        </p:txBody>
      </p:sp>
      <p:sp>
        <p:nvSpPr>
          <p:cNvPr id="150073638" name="Text 23"/>
          <p:cNvSpPr/>
          <p:nvPr/>
        </p:nvSpPr>
        <p:spPr bwMode="auto">
          <a:xfrm>
            <a:off x="6309360" y="2542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Master bira vrstu sinhronizacije</a:t>
            </a:r>
            <a:endParaRPr lang="en-US" sz="1000"/>
          </a:p>
        </p:txBody>
      </p:sp>
      <p:sp>
        <p:nvSpPr>
          <p:cNvPr id="1541464469" name="Shape 24"/>
          <p:cNvSpPr/>
          <p:nvPr/>
        </p:nvSpPr>
        <p:spPr bwMode="auto">
          <a:xfrm>
            <a:off x="5943600" y="3108960"/>
            <a:ext cx="292608" cy="29260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27163597" name="Text 25"/>
          <p:cNvSpPr/>
          <p:nvPr/>
        </p:nvSpPr>
        <p:spPr bwMode="auto">
          <a:xfrm>
            <a:off x="5943600" y="3108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100"/>
          </a:p>
        </p:txBody>
      </p:sp>
      <p:sp>
        <p:nvSpPr>
          <p:cNvPr id="1407735119" name="Text 26"/>
          <p:cNvSpPr/>
          <p:nvPr/>
        </p:nvSpPr>
        <p:spPr bwMode="auto">
          <a:xfrm>
            <a:off x="6309360" y="30723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RDB transfer</a:t>
            </a:r>
            <a:endParaRPr lang="en-US" sz="1200"/>
          </a:p>
        </p:txBody>
      </p:sp>
      <p:sp>
        <p:nvSpPr>
          <p:cNvPr id="1433443875" name="Text 27"/>
          <p:cNvSpPr/>
          <p:nvPr/>
        </p:nvSpPr>
        <p:spPr bwMode="auto">
          <a:xfrm>
            <a:off x="6309360" y="33467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Slanje kompletnog snimka podataka</a:t>
            </a:r>
            <a:endParaRPr lang="en-US" sz="1000"/>
          </a:p>
        </p:txBody>
      </p:sp>
      <p:sp>
        <p:nvSpPr>
          <p:cNvPr id="320337892" name="Shape 28"/>
          <p:cNvSpPr/>
          <p:nvPr/>
        </p:nvSpPr>
        <p:spPr bwMode="auto">
          <a:xfrm>
            <a:off x="5943600" y="3913632"/>
            <a:ext cx="292608" cy="29260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16702061" name="Text 29"/>
          <p:cNvSpPr/>
          <p:nvPr/>
        </p:nvSpPr>
        <p:spPr bwMode="auto">
          <a:xfrm>
            <a:off x="5943600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100"/>
          </a:p>
        </p:txBody>
      </p:sp>
      <p:sp>
        <p:nvSpPr>
          <p:cNvPr id="1968216485" name="Text 30"/>
          <p:cNvSpPr/>
          <p:nvPr/>
        </p:nvSpPr>
        <p:spPr bwMode="auto">
          <a:xfrm>
            <a:off x="6309360" y="38770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Streaming</a:t>
            </a:r>
            <a:endParaRPr lang="en-US" sz="1200"/>
          </a:p>
        </p:txBody>
      </p:sp>
      <p:sp>
        <p:nvSpPr>
          <p:cNvPr id="2143042585" name="Text 31"/>
          <p:cNvSpPr/>
          <p:nvPr/>
        </p:nvSpPr>
        <p:spPr bwMode="auto">
          <a:xfrm>
            <a:off x="6309360" y="415137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Kontinuirano slanje novih komandi</a:t>
            </a:r>
            <a:endParaRPr lang="en-US" sz="1000"/>
          </a:p>
        </p:txBody>
      </p:sp>
      <p:sp>
        <p:nvSpPr>
          <p:cNvPr id="1134899507" name="Shape 32"/>
          <p:cNvSpPr/>
          <p:nvPr/>
        </p:nvSpPr>
        <p:spPr bwMode="auto">
          <a:xfrm>
            <a:off x="457200" y="333756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25320769" name="Text 33"/>
          <p:cNvSpPr/>
          <p:nvPr/>
        </p:nvSpPr>
        <p:spPr bwMode="auto">
          <a:xfrm>
            <a:off x="640080" y="34564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Replication Backlog</a:t>
            </a:r>
            <a:endParaRPr lang="en-US" sz="1300"/>
          </a:p>
        </p:txBody>
      </p:sp>
      <p:sp>
        <p:nvSpPr>
          <p:cNvPr id="145888086" name="Text 34"/>
          <p:cNvSpPr/>
          <p:nvPr/>
        </p:nvSpPr>
        <p:spPr bwMode="auto">
          <a:xfrm>
            <a:off x="640080" y="37673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Kružni bafer (default 1 MB) koji čuva poslednje komande. </a:t>
            </a:r>
            <a:endParaRPr lang="en-US" sz="1100">
              <a:solidFill>
                <a:srgbClr val="F1FAEE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Ako </a:t>
            </a:r>
            <a:r>
              <a:rPr lang="sr-Latn-R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je </a:t>
            </a:r>
            <a:r>
              <a:rPr lang="en-U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replika bila offline kratko → partial resync. </a:t>
            </a:r>
            <a:endParaRPr lang="en-US" sz="1100">
              <a:solidFill>
                <a:srgbClr val="F1FAEE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Ako </a:t>
            </a:r>
            <a:r>
              <a:rPr lang="sr-Latn-R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je bila </a:t>
            </a:r>
            <a:r>
              <a:rPr lang="en-U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duže → full resync od nule.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584710" name="Text 0"/>
          <p:cNvSpPr/>
          <p:nvPr/>
        </p:nvSpPr>
        <p:spPr bwMode="auto"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Redis Sentinel</a:t>
            </a:r>
            <a:endParaRPr lang="en-US" sz="3000"/>
          </a:p>
        </p:txBody>
      </p:sp>
      <p:sp>
        <p:nvSpPr>
          <p:cNvPr id="467167409" name="Text 1"/>
          <p:cNvSpPr/>
          <p:nvPr/>
        </p:nvSpPr>
        <p:spPr bwMode="auto"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Sistem za monitoring i automatski failover</a:t>
            </a:r>
            <a:endParaRPr lang="en-US" sz="1300"/>
          </a:p>
        </p:txBody>
      </p:sp>
      <p:sp>
        <p:nvSpPr>
          <p:cNvPr id="1676960294" name="Shape 2"/>
          <p:cNvSpPr/>
          <p:nvPr/>
        </p:nvSpPr>
        <p:spPr bwMode="auto"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2038155078" name="Shape 3"/>
          <p:cNvSpPr/>
          <p:nvPr/>
        </p:nvSpPr>
        <p:spPr bwMode="auto">
          <a:xfrm>
            <a:off x="457200" y="133731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555235006" name="Text 4"/>
          <p:cNvSpPr/>
          <p:nvPr/>
        </p:nvSpPr>
        <p:spPr bwMode="auto">
          <a:xfrm>
            <a:off x="594360" y="16413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👁</a:t>
            </a:r>
            <a:endParaRPr lang="en-US" sz="2600"/>
          </a:p>
        </p:txBody>
      </p:sp>
      <p:sp>
        <p:nvSpPr>
          <p:cNvPr id="1162942310" name="Text 5"/>
          <p:cNvSpPr/>
          <p:nvPr/>
        </p:nvSpPr>
        <p:spPr bwMode="auto">
          <a:xfrm>
            <a:off x="1280160" y="1481327"/>
            <a:ext cx="30175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Monitoring</a:t>
            </a:r>
            <a:endParaRPr lang="en-US" sz="1400"/>
          </a:p>
        </p:txBody>
      </p:sp>
      <p:sp>
        <p:nvSpPr>
          <p:cNvPr id="1351088510" name="Text 6"/>
          <p:cNvSpPr/>
          <p:nvPr/>
        </p:nvSpPr>
        <p:spPr bwMode="auto">
          <a:xfrm>
            <a:off x="1280160" y="1954530"/>
            <a:ext cx="30175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Stalno proverava da li su master i replike aktivni</a:t>
            </a:r>
            <a:endParaRPr lang="en-US" sz="1100"/>
          </a:p>
        </p:txBody>
      </p:sp>
      <p:sp>
        <p:nvSpPr>
          <p:cNvPr id="1984449654" name="Shape 7"/>
          <p:cNvSpPr/>
          <p:nvPr/>
        </p:nvSpPr>
        <p:spPr bwMode="auto">
          <a:xfrm>
            <a:off x="4800600" y="133731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512954899" name="Text 8"/>
          <p:cNvSpPr/>
          <p:nvPr/>
        </p:nvSpPr>
        <p:spPr bwMode="auto">
          <a:xfrm>
            <a:off x="4937760" y="163449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📢</a:t>
            </a:r>
            <a:endParaRPr lang="en-US" sz="2600"/>
          </a:p>
        </p:txBody>
      </p:sp>
      <p:sp>
        <p:nvSpPr>
          <p:cNvPr id="1820077582" name="Text 9"/>
          <p:cNvSpPr/>
          <p:nvPr/>
        </p:nvSpPr>
        <p:spPr bwMode="auto">
          <a:xfrm>
            <a:off x="5623560" y="1481327"/>
            <a:ext cx="30175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Notifikacija</a:t>
            </a:r>
            <a:endParaRPr lang="en-US" sz="1400"/>
          </a:p>
        </p:txBody>
      </p:sp>
      <p:sp>
        <p:nvSpPr>
          <p:cNvPr id="1258948846" name="Text 10"/>
          <p:cNvSpPr/>
          <p:nvPr/>
        </p:nvSpPr>
        <p:spPr bwMode="auto">
          <a:xfrm>
            <a:off x="5623560" y="1954530"/>
            <a:ext cx="30175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Obaveštava aplikacije i administratore o problemima</a:t>
            </a:r>
            <a:endParaRPr lang="en-US" sz="1100"/>
          </a:p>
        </p:txBody>
      </p:sp>
      <p:sp>
        <p:nvSpPr>
          <p:cNvPr id="872454027" name="Shape 11"/>
          <p:cNvSpPr/>
          <p:nvPr/>
        </p:nvSpPr>
        <p:spPr bwMode="auto">
          <a:xfrm>
            <a:off x="457200" y="2708827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608377919" name="Text 12"/>
          <p:cNvSpPr/>
          <p:nvPr/>
        </p:nvSpPr>
        <p:spPr bwMode="auto">
          <a:xfrm>
            <a:off x="594360" y="299008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⚡</a:t>
            </a:r>
            <a:endParaRPr lang="en-US" sz="2600"/>
          </a:p>
        </p:txBody>
      </p:sp>
      <p:sp>
        <p:nvSpPr>
          <p:cNvPr id="1088887814" name="Text 13"/>
          <p:cNvSpPr/>
          <p:nvPr/>
        </p:nvSpPr>
        <p:spPr bwMode="auto">
          <a:xfrm>
            <a:off x="1280160" y="2830067"/>
            <a:ext cx="30175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F233C"/>
                </a:solidFill>
                <a:latin typeface="Calibri"/>
                <a:ea typeface="Calibri"/>
                <a:cs typeface="Calibri"/>
              </a:rPr>
              <a:t>Failover</a:t>
            </a:r>
            <a:endParaRPr lang="en-US" sz="1400"/>
          </a:p>
        </p:txBody>
      </p:sp>
      <p:sp>
        <p:nvSpPr>
          <p:cNvPr id="1574590959" name="Text 14"/>
          <p:cNvSpPr/>
          <p:nvPr/>
        </p:nvSpPr>
        <p:spPr bwMode="auto">
          <a:xfrm>
            <a:off x="1280160" y="3310127"/>
            <a:ext cx="30175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Automatski promoviše repliku u novog mastera</a:t>
            </a:r>
            <a:endParaRPr lang="en-US" sz="1100"/>
          </a:p>
        </p:txBody>
      </p:sp>
      <p:sp>
        <p:nvSpPr>
          <p:cNvPr id="1708008859" name="Shape 15"/>
          <p:cNvSpPr/>
          <p:nvPr/>
        </p:nvSpPr>
        <p:spPr bwMode="auto">
          <a:xfrm>
            <a:off x="4800600" y="2708827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48243272" name="Text 16"/>
          <p:cNvSpPr/>
          <p:nvPr/>
        </p:nvSpPr>
        <p:spPr bwMode="auto">
          <a:xfrm>
            <a:off x="4937760" y="299008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📍</a:t>
            </a:r>
            <a:endParaRPr lang="en-US" sz="2600"/>
          </a:p>
        </p:txBody>
      </p:sp>
      <p:sp>
        <p:nvSpPr>
          <p:cNvPr id="1639550983" name="Text 17"/>
          <p:cNvSpPr/>
          <p:nvPr/>
        </p:nvSpPr>
        <p:spPr bwMode="auto">
          <a:xfrm>
            <a:off x="5623560" y="2830067"/>
            <a:ext cx="30175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6D6A0"/>
                </a:solidFill>
                <a:latin typeface="Calibri"/>
                <a:ea typeface="Calibri"/>
                <a:cs typeface="Calibri"/>
              </a:rPr>
              <a:t>Konfiguracija</a:t>
            </a:r>
            <a:endParaRPr lang="en-US" sz="1400"/>
          </a:p>
        </p:txBody>
      </p:sp>
      <p:sp>
        <p:nvSpPr>
          <p:cNvPr id="1558431251" name="Text 18"/>
          <p:cNvSpPr/>
          <p:nvPr/>
        </p:nvSpPr>
        <p:spPr bwMode="auto">
          <a:xfrm>
            <a:off x="5623560" y="3310127"/>
            <a:ext cx="30175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Klijenti pitaju Sentinel gde je trenutni master</a:t>
            </a:r>
            <a:endParaRPr lang="en-US" sz="1100"/>
          </a:p>
        </p:txBody>
      </p:sp>
      <p:sp>
        <p:nvSpPr>
          <p:cNvPr id="95287819" name="Shape 19"/>
          <p:cNvSpPr/>
          <p:nvPr/>
        </p:nvSpPr>
        <p:spPr bwMode="auto">
          <a:xfrm>
            <a:off x="457200" y="4133088"/>
            <a:ext cx="8229600" cy="749808"/>
          </a:xfrm>
          <a:prstGeom prst="roundRect">
            <a:avLst>
              <a:gd name="adj" fmla="val 14634"/>
            </a:avLst>
          </a:prstGeom>
          <a:solidFill>
            <a:srgbClr val="0A1520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69702917" name="Text 20"/>
          <p:cNvSpPr/>
          <p:nvPr/>
        </p:nvSpPr>
        <p:spPr bwMode="auto">
          <a:xfrm>
            <a:off x="640080" y="4224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Quorum mehanizam:</a:t>
            </a:r>
            <a:endParaRPr lang="en-US" sz="1200"/>
          </a:p>
        </p:txBody>
      </p:sp>
      <p:sp>
        <p:nvSpPr>
          <p:cNvPr id="612330215" name="Text 21"/>
          <p:cNvSpPr/>
          <p:nvPr/>
        </p:nvSpPr>
        <p:spPr bwMode="auto">
          <a:xfrm>
            <a:off x="2697480" y="422452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SDOWN (1 Sentinel prijavljuje) → ODOWN (quorum potvrđuje) → FAILOVER počinje. </a:t>
            </a:r>
            <a:endParaRPr lang="en-US" sz="1100">
              <a:solidFill>
                <a:srgbClr val="F1FAEE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Za 3 Sentinel-a quorum = 2.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723889" name="Text 0"/>
          <p:cNvSpPr/>
          <p:nvPr/>
        </p:nvSpPr>
        <p:spPr bwMode="auto"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Failover procedura</a:t>
            </a:r>
            <a:endParaRPr lang="en-US" sz="3000"/>
          </a:p>
        </p:txBody>
      </p:sp>
      <p:sp>
        <p:nvSpPr>
          <p:cNvPr id="644415264" name="Text 1"/>
          <p:cNvSpPr/>
          <p:nvPr/>
        </p:nvSpPr>
        <p:spPr bwMode="auto"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Od pada mastera do novog mastera — korak po korak</a:t>
            </a:r>
            <a:endParaRPr lang="en-US" sz="1300"/>
          </a:p>
        </p:txBody>
      </p:sp>
      <p:sp>
        <p:nvSpPr>
          <p:cNvPr id="1394599148" name="Shape 2"/>
          <p:cNvSpPr/>
          <p:nvPr/>
        </p:nvSpPr>
        <p:spPr bwMode="auto"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1053672277" name="Shape 3"/>
          <p:cNvSpPr/>
          <p:nvPr/>
        </p:nvSpPr>
        <p:spPr bwMode="auto">
          <a:xfrm>
            <a:off x="457200" y="128016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81923117" name="Shape 4"/>
          <p:cNvSpPr/>
          <p:nvPr/>
        </p:nvSpPr>
        <p:spPr bwMode="auto">
          <a:xfrm>
            <a:off x="621791" y="1609344"/>
            <a:ext cx="438912" cy="438912"/>
          </a:xfrm>
          <a:prstGeom prst="ellipse">
            <a:avLst/>
          </a:prstGeom>
          <a:solidFill>
            <a:srgbClr val="FFD166"/>
          </a:solidFill>
          <a:ln w="25400">
            <a:solidFill>
              <a:srgbClr val="FFD166"/>
            </a:solidFill>
            <a:prstDash val="solid"/>
          </a:ln>
        </p:spPr>
      </p:sp>
      <p:sp>
        <p:nvSpPr>
          <p:cNvPr id="1215726809" name="Text 5"/>
          <p:cNvSpPr/>
          <p:nvPr/>
        </p:nvSpPr>
        <p:spPr bwMode="auto">
          <a:xfrm>
            <a:off x="621792" y="1609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endParaRPr lang="en-US" sz="1600"/>
          </a:p>
        </p:txBody>
      </p:sp>
      <p:sp>
        <p:nvSpPr>
          <p:cNvPr id="856972715" name="Text 6"/>
          <p:cNvSpPr/>
          <p:nvPr/>
        </p:nvSpPr>
        <p:spPr bwMode="auto">
          <a:xfrm>
            <a:off x="1188720" y="1389888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SDOWN detekcija</a:t>
            </a:r>
            <a:endParaRPr lang="en-US" sz="1300"/>
          </a:p>
        </p:txBody>
      </p:sp>
      <p:sp>
        <p:nvSpPr>
          <p:cNvPr id="498633446" name="Text 7"/>
          <p:cNvSpPr/>
          <p:nvPr/>
        </p:nvSpPr>
        <p:spPr bwMode="auto">
          <a:xfrm>
            <a:off x="1188720" y="18608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Sentinel ne dobija PONG u 5s</a:t>
            </a:r>
            <a:endParaRPr lang="en-US" sz="1100"/>
          </a:p>
        </p:txBody>
      </p:sp>
      <p:sp>
        <p:nvSpPr>
          <p:cNvPr id="1992477571" name="Shape 8"/>
          <p:cNvSpPr/>
          <p:nvPr/>
        </p:nvSpPr>
        <p:spPr bwMode="auto">
          <a:xfrm>
            <a:off x="457200" y="2523744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212550102" name="Shape 9"/>
          <p:cNvSpPr/>
          <p:nvPr/>
        </p:nvSpPr>
        <p:spPr bwMode="auto">
          <a:xfrm>
            <a:off x="621792" y="2852928"/>
            <a:ext cx="438912" cy="438912"/>
          </a:xfrm>
          <a:prstGeom prst="ellipse">
            <a:avLst/>
          </a:prstGeom>
          <a:solidFill>
            <a:srgbClr val="FFD166"/>
          </a:solidFill>
          <a:ln w="25400">
            <a:solidFill>
              <a:srgbClr val="FFD166"/>
            </a:solidFill>
            <a:prstDash val="solid"/>
          </a:ln>
        </p:spPr>
      </p:sp>
      <p:sp>
        <p:nvSpPr>
          <p:cNvPr id="1297465571" name="Text 10"/>
          <p:cNvSpPr/>
          <p:nvPr/>
        </p:nvSpPr>
        <p:spPr bwMode="auto">
          <a:xfrm>
            <a:off x="621792" y="2852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endParaRPr lang="en-US" sz="1600"/>
          </a:p>
        </p:txBody>
      </p:sp>
      <p:sp>
        <p:nvSpPr>
          <p:cNvPr id="1609345902" name="Text 11"/>
          <p:cNvSpPr/>
          <p:nvPr/>
        </p:nvSpPr>
        <p:spPr bwMode="auto">
          <a:xfrm>
            <a:off x="1188720" y="265176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ODOWN potvrda</a:t>
            </a:r>
            <a:endParaRPr lang="en-US" sz="1300"/>
          </a:p>
        </p:txBody>
      </p:sp>
      <p:sp>
        <p:nvSpPr>
          <p:cNvPr id="1398810140" name="Text 12"/>
          <p:cNvSpPr/>
          <p:nvPr/>
        </p:nvSpPr>
        <p:spPr bwMode="auto">
          <a:xfrm>
            <a:off x="1188720" y="312267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Quorum Sentinel-a se slaže</a:t>
            </a:r>
            <a:endParaRPr lang="en-US" sz="1100"/>
          </a:p>
        </p:txBody>
      </p:sp>
      <p:sp>
        <p:nvSpPr>
          <p:cNvPr id="1722972433" name="Shape 13"/>
          <p:cNvSpPr/>
          <p:nvPr/>
        </p:nvSpPr>
        <p:spPr bwMode="auto">
          <a:xfrm>
            <a:off x="457200" y="3785616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636966919" name="Shape 14"/>
          <p:cNvSpPr/>
          <p:nvPr/>
        </p:nvSpPr>
        <p:spPr bwMode="auto">
          <a:xfrm>
            <a:off x="621792" y="4133088"/>
            <a:ext cx="438912" cy="438912"/>
          </a:xfrm>
          <a:prstGeom prst="ellipse">
            <a:avLst/>
          </a:prstGeom>
          <a:solidFill>
            <a:srgbClr val="00B4D8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2076202213" name="Text 15"/>
          <p:cNvSpPr/>
          <p:nvPr/>
        </p:nvSpPr>
        <p:spPr bwMode="auto">
          <a:xfrm>
            <a:off x="621791" y="4133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endParaRPr lang="en-US" sz="1600"/>
          </a:p>
        </p:txBody>
      </p:sp>
      <p:sp>
        <p:nvSpPr>
          <p:cNvPr id="2056386154" name="Text 16"/>
          <p:cNvSpPr/>
          <p:nvPr/>
        </p:nvSpPr>
        <p:spPr bwMode="auto">
          <a:xfrm>
            <a:off x="1188720" y="3913631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Izbor lidera</a:t>
            </a:r>
            <a:endParaRPr lang="en-US" sz="1300"/>
          </a:p>
        </p:txBody>
      </p:sp>
      <p:sp>
        <p:nvSpPr>
          <p:cNvPr id="849809216" name="Text 17"/>
          <p:cNvSpPr/>
          <p:nvPr/>
        </p:nvSpPr>
        <p:spPr bwMode="auto">
          <a:xfrm>
            <a:off x="1188720" y="4334255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Raft glasanje između Sentinel-a</a:t>
            </a:r>
            <a:endParaRPr lang="en-US" sz="1100"/>
          </a:p>
        </p:txBody>
      </p:sp>
      <p:sp>
        <p:nvSpPr>
          <p:cNvPr id="913681230" name="Shape 18"/>
          <p:cNvSpPr/>
          <p:nvPr/>
        </p:nvSpPr>
        <p:spPr bwMode="auto">
          <a:xfrm>
            <a:off x="4800600" y="128016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030721578" name="Shape 19"/>
          <p:cNvSpPr/>
          <p:nvPr/>
        </p:nvSpPr>
        <p:spPr bwMode="auto">
          <a:xfrm>
            <a:off x="4965192" y="1609344"/>
            <a:ext cx="438912" cy="438912"/>
          </a:xfrm>
          <a:prstGeom prst="ellipse">
            <a:avLst/>
          </a:prstGeom>
          <a:solidFill>
            <a:srgbClr val="00B4D8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941452076" name="Text 20"/>
          <p:cNvSpPr/>
          <p:nvPr/>
        </p:nvSpPr>
        <p:spPr bwMode="auto">
          <a:xfrm>
            <a:off x="4965192" y="1609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endParaRPr lang="en-US" sz="1600"/>
          </a:p>
        </p:txBody>
      </p:sp>
      <p:sp>
        <p:nvSpPr>
          <p:cNvPr id="1487770338" name="Text 21"/>
          <p:cNvSpPr/>
          <p:nvPr/>
        </p:nvSpPr>
        <p:spPr bwMode="auto">
          <a:xfrm>
            <a:off x="5532119" y="1389888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Selekcija replike</a:t>
            </a:r>
            <a:endParaRPr lang="en-US" sz="1300"/>
          </a:p>
        </p:txBody>
      </p:sp>
      <p:sp>
        <p:nvSpPr>
          <p:cNvPr id="381262072" name="Text 22"/>
          <p:cNvSpPr/>
          <p:nvPr/>
        </p:nvSpPr>
        <p:spPr bwMode="auto">
          <a:xfrm>
            <a:off x="5532119" y="18608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Bira se replika sa najvećim offsetom</a:t>
            </a:r>
            <a:endParaRPr lang="en-US" sz="1100"/>
          </a:p>
        </p:txBody>
      </p:sp>
      <p:sp>
        <p:nvSpPr>
          <p:cNvPr id="77972880" name="Shape 23"/>
          <p:cNvSpPr/>
          <p:nvPr/>
        </p:nvSpPr>
        <p:spPr bwMode="auto">
          <a:xfrm>
            <a:off x="4800600" y="2523744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495602361" name="Shape 24"/>
          <p:cNvSpPr/>
          <p:nvPr/>
        </p:nvSpPr>
        <p:spPr bwMode="auto">
          <a:xfrm>
            <a:off x="4965192" y="2852928"/>
            <a:ext cx="438912" cy="438912"/>
          </a:xfrm>
          <a:prstGeom prst="ellipse">
            <a:avLst/>
          </a:prstGeom>
          <a:solidFill>
            <a:srgbClr val="06D6A0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677118008" name="Text 25"/>
          <p:cNvSpPr/>
          <p:nvPr/>
        </p:nvSpPr>
        <p:spPr bwMode="auto">
          <a:xfrm>
            <a:off x="4965192" y="2871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endParaRPr lang="en-US" sz="1600"/>
          </a:p>
        </p:txBody>
      </p:sp>
      <p:sp>
        <p:nvSpPr>
          <p:cNvPr id="354424608" name="Text 26"/>
          <p:cNvSpPr/>
          <p:nvPr/>
        </p:nvSpPr>
        <p:spPr bwMode="auto">
          <a:xfrm>
            <a:off x="5532119" y="265176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Promocija</a:t>
            </a:r>
            <a:endParaRPr lang="en-US" sz="1300"/>
          </a:p>
        </p:txBody>
      </p:sp>
      <p:sp>
        <p:nvSpPr>
          <p:cNvPr id="1438539064" name="Text 27"/>
          <p:cNvSpPr/>
          <p:nvPr/>
        </p:nvSpPr>
        <p:spPr bwMode="auto">
          <a:xfrm>
            <a:off x="5532119" y="312267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SLAVEOF NO ONE — replika postaje master</a:t>
            </a:r>
            <a:endParaRPr lang="en-US" sz="1100"/>
          </a:p>
        </p:txBody>
      </p:sp>
      <p:sp>
        <p:nvSpPr>
          <p:cNvPr id="1239717981" name="Shape 28"/>
          <p:cNvSpPr/>
          <p:nvPr/>
        </p:nvSpPr>
        <p:spPr bwMode="auto">
          <a:xfrm>
            <a:off x="4800600" y="3785616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557351045" name="Shape 29"/>
          <p:cNvSpPr/>
          <p:nvPr/>
        </p:nvSpPr>
        <p:spPr bwMode="auto">
          <a:xfrm>
            <a:off x="4965192" y="4133088"/>
            <a:ext cx="438912" cy="438912"/>
          </a:xfrm>
          <a:prstGeom prst="ellipse">
            <a:avLst/>
          </a:prstGeom>
          <a:solidFill>
            <a:srgbClr val="06D6A0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1712993410" name="Text 30"/>
          <p:cNvSpPr/>
          <p:nvPr/>
        </p:nvSpPr>
        <p:spPr bwMode="auto">
          <a:xfrm>
            <a:off x="4965192" y="4133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endParaRPr lang="en-US" sz="1600"/>
          </a:p>
        </p:txBody>
      </p:sp>
      <p:sp>
        <p:nvSpPr>
          <p:cNvPr id="1973715205" name="Text 31"/>
          <p:cNvSpPr/>
          <p:nvPr/>
        </p:nvSpPr>
        <p:spPr bwMode="auto">
          <a:xfrm>
            <a:off x="5532119" y="3913631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Rekonfiguracija</a:t>
            </a:r>
            <a:endParaRPr lang="en-US" sz="1300"/>
          </a:p>
        </p:txBody>
      </p:sp>
      <p:sp>
        <p:nvSpPr>
          <p:cNvPr id="1334714591" name="Text 32"/>
          <p:cNvSpPr/>
          <p:nvPr/>
        </p:nvSpPr>
        <p:spPr bwMode="auto">
          <a:xfrm>
            <a:off x="5532119" y="4334255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Ostale replike upućene na novog mastera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305709" name="Text 0"/>
          <p:cNvSpPr/>
          <p:nvPr/>
        </p:nvSpPr>
        <p:spPr bwMode="auto"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Redis Cluster</a:t>
            </a:r>
            <a:endParaRPr lang="en-US" sz="3000"/>
          </a:p>
        </p:txBody>
      </p:sp>
      <p:sp>
        <p:nvSpPr>
          <p:cNvPr id="1974967387" name="Text 1"/>
          <p:cNvSpPr/>
          <p:nvPr/>
        </p:nvSpPr>
        <p:spPr bwMode="auto"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Horizontalno skaliranje — kada jedan server nije dovoljno</a:t>
            </a:r>
            <a:endParaRPr lang="en-US" sz="1300"/>
          </a:p>
        </p:txBody>
      </p:sp>
      <p:sp>
        <p:nvSpPr>
          <p:cNvPr id="1615698339" name="Shape 2"/>
          <p:cNvSpPr/>
          <p:nvPr/>
        </p:nvSpPr>
        <p:spPr bwMode="auto"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2000320" name="Shape 3"/>
          <p:cNvSpPr/>
          <p:nvPr/>
        </p:nvSpPr>
        <p:spPr bwMode="auto">
          <a:xfrm>
            <a:off x="480060" y="1280159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7006801" name="Text 4"/>
          <p:cNvSpPr/>
          <p:nvPr/>
        </p:nvSpPr>
        <p:spPr bwMode="auto">
          <a:xfrm>
            <a:off x="594360" y="1280159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16 384 hash slotova  —  CRC16(key) mod 16384</a:t>
            </a:r>
            <a:endParaRPr lang="en-US" sz="1300"/>
          </a:p>
        </p:txBody>
      </p:sp>
      <p:sp>
        <p:nvSpPr>
          <p:cNvPr id="796430731" name="Shape 5"/>
          <p:cNvSpPr/>
          <p:nvPr/>
        </p:nvSpPr>
        <p:spPr bwMode="auto">
          <a:xfrm>
            <a:off x="457200" y="1924812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162840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94791078" name="Text 6"/>
          <p:cNvSpPr/>
          <p:nvPr/>
        </p:nvSpPr>
        <p:spPr bwMode="auto">
          <a:xfrm>
            <a:off x="505167" y="205968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EF233C"/>
                </a:solidFill>
                <a:latin typeface="Calibri"/>
                <a:ea typeface="Calibri"/>
                <a:cs typeface="Calibri"/>
              </a:rPr>
              <a:t>Master 1</a:t>
            </a:r>
            <a:endParaRPr lang="en-US" sz="1200"/>
          </a:p>
        </p:txBody>
      </p:sp>
      <p:sp>
        <p:nvSpPr>
          <p:cNvPr id="1247221360" name="Text 7"/>
          <p:cNvSpPr/>
          <p:nvPr/>
        </p:nvSpPr>
        <p:spPr bwMode="auto">
          <a:xfrm>
            <a:off x="457200" y="233400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0 – 5 460</a:t>
            </a:r>
            <a:endParaRPr lang="en-US" sz="1000"/>
          </a:p>
        </p:txBody>
      </p:sp>
      <p:sp>
        <p:nvSpPr>
          <p:cNvPr id="610594709" name="Shape 8"/>
          <p:cNvSpPr/>
          <p:nvPr/>
        </p:nvSpPr>
        <p:spPr bwMode="auto">
          <a:xfrm>
            <a:off x="731520" y="2736237"/>
            <a:ext cx="2057400" cy="411480"/>
          </a:xfrm>
          <a:prstGeom prst="roundRect">
            <a:avLst>
              <a:gd name="adj" fmla="val 26667"/>
            </a:avLst>
          </a:prstGeom>
          <a:solidFill>
            <a:srgbClr val="162840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376614779" name="Text 9"/>
          <p:cNvSpPr/>
          <p:nvPr/>
        </p:nvSpPr>
        <p:spPr bwMode="auto">
          <a:xfrm>
            <a:off x="731520" y="2736237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Replika 1</a:t>
            </a:r>
            <a:endParaRPr lang="en-US" sz="1000"/>
          </a:p>
        </p:txBody>
      </p:sp>
      <p:sp>
        <p:nvSpPr>
          <p:cNvPr id="64923992" name="Shape 10"/>
          <p:cNvSpPr/>
          <p:nvPr/>
        </p:nvSpPr>
        <p:spPr bwMode="auto">
          <a:xfrm>
            <a:off x="3291840" y="1924812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162840"/>
          </a:solidFill>
          <a:ln w="25400">
            <a:solidFill>
              <a:srgbClr val="0077B6"/>
            </a:solidFill>
            <a:prstDash val="solid"/>
          </a:ln>
        </p:spPr>
      </p:sp>
      <p:sp>
        <p:nvSpPr>
          <p:cNvPr id="403678015" name="Text 11"/>
          <p:cNvSpPr/>
          <p:nvPr/>
        </p:nvSpPr>
        <p:spPr bwMode="auto">
          <a:xfrm>
            <a:off x="3268980" y="205968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077B6"/>
                </a:solidFill>
                <a:latin typeface="Calibri"/>
                <a:ea typeface="Calibri"/>
                <a:cs typeface="Calibri"/>
              </a:rPr>
              <a:t>Master 2</a:t>
            </a:r>
            <a:endParaRPr lang="en-US" sz="1200"/>
          </a:p>
        </p:txBody>
      </p:sp>
      <p:sp>
        <p:nvSpPr>
          <p:cNvPr id="1886647272" name="Text 12"/>
          <p:cNvSpPr/>
          <p:nvPr/>
        </p:nvSpPr>
        <p:spPr bwMode="auto">
          <a:xfrm>
            <a:off x="3268980" y="233400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5 461 – 10 922</a:t>
            </a:r>
            <a:endParaRPr lang="en-US" sz="1000"/>
          </a:p>
        </p:txBody>
      </p:sp>
      <p:sp>
        <p:nvSpPr>
          <p:cNvPr id="991697591" name="Shape 13"/>
          <p:cNvSpPr/>
          <p:nvPr/>
        </p:nvSpPr>
        <p:spPr bwMode="auto">
          <a:xfrm>
            <a:off x="3566160" y="2736237"/>
            <a:ext cx="2057400" cy="411480"/>
          </a:xfrm>
          <a:prstGeom prst="roundRect">
            <a:avLst>
              <a:gd name="adj" fmla="val 26667"/>
            </a:avLst>
          </a:prstGeom>
          <a:solidFill>
            <a:srgbClr val="162840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91881582" name="Text 14"/>
          <p:cNvSpPr/>
          <p:nvPr/>
        </p:nvSpPr>
        <p:spPr bwMode="auto">
          <a:xfrm>
            <a:off x="3566160" y="2736237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Replika 2</a:t>
            </a:r>
            <a:endParaRPr lang="en-US" sz="1000"/>
          </a:p>
        </p:txBody>
      </p:sp>
      <p:sp>
        <p:nvSpPr>
          <p:cNvPr id="1239641454" name="Shape 15"/>
          <p:cNvSpPr/>
          <p:nvPr/>
        </p:nvSpPr>
        <p:spPr bwMode="auto">
          <a:xfrm>
            <a:off x="6126480" y="1924812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162840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2047487842" name="Text 16"/>
          <p:cNvSpPr/>
          <p:nvPr/>
        </p:nvSpPr>
        <p:spPr bwMode="auto">
          <a:xfrm>
            <a:off x="6126480" y="205968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6D6A0"/>
                </a:solidFill>
                <a:latin typeface="Calibri"/>
                <a:ea typeface="Calibri"/>
                <a:cs typeface="Calibri"/>
              </a:rPr>
              <a:t>Master 3</a:t>
            </a:r>
            <a:endParaRPr lang="en-US" sz="1200"/>
          </a:p>
        </p:txBody>
      </p:sp>
      <p:sp>
        <p:nvSpPr>
          <p:cNvPr id="1744326475" name="Text 17"/>
          <p:cNvSpPr/>
          <p:nvPr/>
        </p:nvSpPr>
        <p:spPr bwMode="auto">
          <a:xfrm>
            <a:off x="6126480" y="233400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10 923 – 16 383</a:t>
            </a:r>
            <a:endParaRPr lang="en-US" sz="1000"/>
          </a:p>
        </p:txBody>
      </p:sp>
      <p:sp>
        <p:nvSpPr>
          <p:cNvPr id="1360483863" name="Shape 18"/>
          <p:cNvSpPr/>
          <p:nvPr/>
        </p:nvSpPr>
        <p:spPr bwMode="auto">
          <a:xfrm>
            <a:off x="6400800" y="2736237"/>
            <a:ext cx="2057400" cy="411480"/>
          </a:xfrm>
          <a:prstGeom prst="roundRect">
            <a:avLst>
              <a:gd name="adj" fmla="val 26667"/>
            </a:avLst>
          </a:prstGeom>
          <a:solidFill>
            <a:srgbClr val="1628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07831637" name="Text 19"/>
          <p:cNvSpPr/>
          <p:nvPr/>
        </p:nvSpPr>
        <p:spPr bwMode="auto">
          <a:xfrm>
            <a:off x="6400800" y="2736237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Replika 3</a:t>
            </a:r>
            <a:endParaRPr lang="en-US" sz="1000"/>
          </a:p>
        </p:txBody>
      </p:sp>
      <p:sp>
        <p:nvSpPr>
          <p:cNvPr id="1909874483" name="Shape 20"/>
          <p:cNvSpPr/>
          <p:nvPr/>
        </p:nvSpPr>
        <p:spPr bwMode="auto">
          <a:xfrm>
            <a:off x="457200" y="3268980"/>
            <a:ext cx="3977640" cy="1691640"/>
          </a:xfrm>
          <a:prstGeom prst="roundRect">
            <a:avLst>
              <a:gd name="adj" fmla="val 6486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570584201" name="Text 21"/>
          <p:cNvSpPr/>
          <p:nvPr/>
        </p:nvSpPr>
        <p:spPr bwMode="auto">
          <a:xfrm>
            <a:off x="640080" y="331012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6D6A0"/>
                </a:solidFill>
                <a:latin typeface="Calibri"/>
                <a:ea typeface="Calibri"/>
                <a:cs typeface="Calibri"/>
              </a:rPr>
              <a:t>Prednosti</a:t>
            </a:r>
            <a:endParaRPr lang="en-US" sz="1300"/>
          </a:p>
        </p:txBody>
      </p:sp>
      <p:sp>
        <p:nvSpPr>
          <p:cNvPr id="1966740864" name="Shape 22"/>
          <p:cNvSpPr/>
          <p:nvPr/>
        </p:nvSpPr>
        <p:spPr bwMode="auto">
          <a:xfrm>
            <a:off x="640080" y="3703320"/>
            <a:ext cx="118872" cy="1188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11557073" name="Text 23"/>
          <p:cNvSpPr/>
          <p:nvPr/>
        </p:nvSpPr>
        <p:spPr bwMode="auto">
          <a:xfrm>
            <a:off x="841248" y="3639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Horizontalno skaliranje write-ova</a:t>
            </a:r>
            <a:endParaRPr lang="en-US" sz="1100"/>
          </a:p>
        </p:txBody>
      </p:sp>
      <p:sp>
        <p:nvSpPr>
          <p:cNvPr id="1790162642" name="Shape 24"/>
          <p:cNvSpPr/>
          <p:nvPr/>
        </p:nvSpPr>
        <p:spPr bwMode="auto">
          <a:xfrm>
            <a:off x="640080" y="4041648"/>
            <a:ext cx="118872" cy="1188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64565317" name="Text 25"/>
          <p:cNvSpPr/>
          <p:nvPr/>
        </p:nvSpPr>
        <p:spPr bwMode="auto">
          <a:xfrm>
            <a:off x="841248" y="3977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Automatski failover bez Sentinel-a</a:t>
            </a:r>
            <a:endParaRPr lang="en-US" sz="1100"/>
          </a:p>
        </p:txBody>
      </p:sp>
      <p:sp>
        <p:nvSpPr>
          <p:cNvPr id="1869051490" name="Shape 26"/>
          <p:cNvSpPr/>
          <p:nvPr/>
        </p:nvSpPr>
        <p:spPr bwMode="auto">
          <a:xfrm>
            <a:off x="640080" y="4379976"/>
            <a:ext cx="118872" cy="1188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48650228" name="Text 27"/>
          <p:cNvSpPr/>
          <p:nvPr/>
        </p:nvSpPr>
        <p:spPr bwMode="auto">
          <a:xfrm>
            <a:off x="841248" y="4315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Dataset veći od RAM jednog čvora</a:t>
            </a:r>
            <a:endParaRPr lang="en-US" sz="1100"/>
          </a:p>
        </p:txBody>
      </p:sp>
      <p:sp>
        <p:nvSpPr>
          <p:cNvPr id="823747650" name="Shape 28"/>
          <p:cNvSpPr/>
          <p:nvPr/>
        </p:nvSpPr>
        <p:spPr bwMode="auto">
          <a:xfrm>
            <a:off x="640080" y="4718304"/>
            <a:ext cx="118872" cy="1188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12850158" name="Text 29"/>
          <p:cNvSpPr/>
          <p:nvPr/>
        </p:nvSpPr>
        <p:spPr bwMode="auto">
          <a:xfrm>
            <a:off x="841248" y="4654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Online resharding bez downtime-a</a:t>
            </a:r>
            <a:endParaRPr lang="en-US" sz="1100"/>
          </a:p>
        </p:txBody>
      </p:sp>
      <p:sp>
        <p:nvSpPr>
          <p:cNvPr id="992850110" name="Shape 30"/>
          <p:cNvSpPr/>
          <p:nvPr/>
        </p:nvSpPr>
        <p:spPr bwMode="auto">
          <a:xfrm>
            <a:off x="4709160" y="3268980"/>
            <a:ext cx="3977640" cy="1691640"/>
          </a:xfrm>
          <a:prstGeom prst="roundRect">
            <a:avLst>
              <a:gd name="adj" fmla="val 6486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340836671" name="Text 31"/>
          <p:cNvSpPr/>
          <p:nvPr/>
        </p:nvSpPr>
        <p:spPr bwMode="auto">
          <a:xfrm>
            <a:off x="4892039" y="331012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EF233C"/>
                </a:solidFill>
                <a:latin typeface="Calibri"/>
                <a:ea typeface="Calibri"/>
                <a:cs typeface="Calibri"/>
              </a:rPr>
              <a:t>Ograničenja</a:t>
            </a:r>
            <a:endParaRPr lang="en-US" sz="1300"/>
          </a:p>
        </p:txBody>
      </p:sp>
      <p:sp>
        <p:nvSpPr>
          <p:cNvPr id="1642226169" name="Shape 32"/>
          <p:cNvSpPr/>
          <p:nvPr/>
        </p:nvSpPr>
        <p:spPr bwMode="auto">
          <a:xfrm>
            <a:off x="4892039" y="3703320"/>
            <a:ext cx="118872" cy="118872"/>
          </a:xfrm>
          <a:prstGeom prst="ellipse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900754473" name="Text 33"/>
          <p:cNvSpPr/>
          <p:nvPr/>
        </p:nvSpPr>
        <p:spPr bwMode="auto">
          <a:xfrm>
            <a:off x="5093208" y="3639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Multi-key op samo na istom slotu</a:t>
            </a:r>
            <a:endParaRPr lang="en-US" sz="1100"/>
          </a:p>
        </p:txBody>
      </p:sp>
      <p:sp>
        <p:nvSpPr>
          <p:cNvPr id="384421147" name="Shape 34"/>
          <p:cNvSpPr/>
          <p:nvPr/>
        </p:nvSpPr>
        <p:spPr bwMode="auto">
          <a:xfrm>
            <a:off x="4892039" y="4041648"/>
            <a:ext cx="118872" cy="118872"/>
          </a:xfrm>
          <a:prstGeom prst="ellipse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90415277" name="Text 35"/>
          <p:cNvSpPr/>
          <p:nvPr/>
        </p:nvSpPr>
        <p:spPr bwMode="auto">
          <a:xfrm>
            <a:off x="5093208" y="3977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Samo DB 0, nema SELECT komande</a:t>
            </a:r>
            <a:endParaRPr lang="en-US" sz="1100"/>
          </a:p>
        </p:txBody>
      </p:sp>
      <p:sp>
        <p:nvSpPr>
          <p:cNvPr id="1367856482" name="Shape 36"/>
          <p:cNvSpPr/>
          <p:nvPr/>
        </p:nvSpPr>
        <p:spPr bwMode="auto">
          <a:xfrm>
            <a:off x="4892039" y="4379976"/>
            <a:ext cx="118872" cy="118872"/>
          </a:xfrm>
          <a:prstGeom prst="ellipse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552894948" name="Text 37"/>
          <p:cNvSpPr/>
          <p:nvPr/>
        </p:nvSpPr>
        <p:spPr bwMode="auto">
          <a:xfrm>
            <a:off x="5093208" y="4315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Lua skripte ograničene na jedan slot</a:t>
            </a:r>
            <a:endParaRPr lang="en-US" sz="1100"/>
          </a:p>
        </p:txBody>
      </p:sp>
      <p:sp>
        <p:nvSpPr>
          <p:cNvPr id="1615115627" name="Shape 38"/>
          <p:cNvSpPr/>
          <p:nvPr/>
        </p:nvSpPr>
        <p:spPr bwMode="auto">
          <a:xfrm>
            <a:off x="4892039" y="4718304"/>
            <a:ext cx="118872" cy="118872"/>
          </a:xfrm>
          <a:prstGeom prst="ellipse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841190686" name="Text 39"/>
          <p:cNvSpPr/>
          <p:nvPr/>
        </p:nvSpPr>
        <p:spPr bwMode="auto">
          <a:xfrm>
            <a:off x="5093208" y="4654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Kompleksnija administracija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7896258" name="Text 0"/>
          <p:cNvSpPr/>
          <p:nvPr/>
        </p:nvSpPr>
        <p:spPr bwMode="auto"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Sentinel vs Cluster</a:t>
            </a:r>
            <a:endParaRPr lang="en-US" sz="3000"/>
          </a:p>
        </p:txBody>
      </p:sp>
      <p:sp>
        <p:nvSpPr>
          <p:cNvPr id="574734095" name="Text 1"/>
          <p:cNvSpPr/>
          <p:nvPr/>
        </p:nvSpPr>
        <p:spPr bwMode="auto">
          <a:xfrm>
            <a:off x="457199" y="11292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Kada koristiti koje rešenje?</a:t>
            </a:r>
            <a:endParaRPr lang="en-US" sz="1300"/>
          </a:p>
        </p:txBody>
      </p:sp>
      <p:sp>
        <p:nvSpPr>
          <p:cNvPr id="192551949" name="Shape 2"/>
          <p:cNvSpPr/>
          <p:nvPr/>
        </p:nvSpPr>
        <p:spPr bwMode="auto"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653611667" name="Shape 3"/>
          <p:cNvSpPr/>
          <p:nvPr/>
        </p:nvSpPr>
        <p:spPr bwMode="auto">
          <a:xfrm>
            <a:off x="2286000" y="1097280"/>
            <a:ext cx="3200400" cy="384048"/>
          </a:xfrm>
          <a:prstGeom prst="roundRect">
            <a:avLst>
              <a:gd name="adj" fmla="val 19048"/>
            </a:avLst>
          </a:prstGeom>
          <a:solidFill>
            <a:srgbClr val="0077B6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14722202" name="Text 4"/>
          <p:cNvSpPr/>
          <p:nvPr/>
        </p:nvSpPr>
        <p:spPr bwMode="auto">
          <a:xfrm>
            <a:off x="2286000" y="10972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Sentinel</a:t>
            </a:r>
            <a:endParaRPr lang="en-US" sz="1400"/>
          </a:p>
        </p:txBody>
      </p:sp>
      <p:sp>
        <p:nvSpPr>
          <p:cNvPr id="1842155272" name="Shape 5"/>
          <p:cNvSpPr/>
          <p:nvPr/>
        </p:nvSpPr>
        <p:spPr bwMode="auto">
          <a:xfrm>
            <a:off x="5577840" y="109728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00B4D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496231431" name="Text 6"/>
          <p:cNvSpPr/>
          <p:nvPr/>
        </p:nvSpPr>
        <p:spPr bwMode="auto">
          <a:xfrm>
            <a:off x="5577840" y="10972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Cluster</a:t>
            </a:r>
            <a:endParaRPr lang="en-US" sz="1400"/>
          </a:p>
        </p:txBody>
      </p:sp>
      <p:sp>
        <p:nvSpPr>
          <p:cNvPr id="635104460" name="Shape 7"/>
          <p:cNvSpPr/>
          <p:nvPr/>
        </p:nvSpPr>
        <p:spPr bwMode="auto">
          <a:xfrm>
            <a:off x="457200" y="1572768"/>
            <a:ext cx="1737360" cy="475488"/>
          </a:xfrm>
          <a:prstGeom prst="rect">
            <a:avLst/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602477741" name="Text 8"/>
          <p:cNvSpPr/>
          <p:nvPr/>
        </p:nvSpPr>
        <p:spPr bwMode="auto">
          <a:xfrm>
            <a:off x="502920" y="15727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Max. veličina</a:t>
            </a:r>
            <a:endParaRPr lang="en-US" sz="1100"/>
          </a:p>
        </p:txBody>
      </p:sp>
      <p:sp>
        <p:nvSpPr>
          <p:cNvPr id="1971774982" name="Shape 9"/>
          <p:cNvSpPr/>
          <p:nvPr/>
        </p:nvSpPr>
        <p:spPr bwMode="auto">
          <a:xfrm>
            <a:off x="2286000" y="1572768"/>
            <a:ext cx="3200400" cy="475488"/>
          </a:xfrm>
          <a:prstGeom prst="rect">
            <a:avLst/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08550096" name="Text 10"/>
          <p:cNvSpPr/>
          <p:nvPr/>
        </p:nvSpPr>
        <p:spPr bwMode="auto">
          <a:xfrm>
            <a:off x="2331720" y="157276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RAM jednog servera</a:t>
            </a:r>
            <a:endParaRPr lang="en-US" sz="1100"/>
          </a:p>
        </p:txBody>
      </p:sp>
      <p:sp>
        <p:nvSpPr>
          <p:cNvPr id="475977801" name="Shape 11"/>
          <p:cNvSpPr/>
          <p:nvPr/>
        </p:nvSpPr>
        <p:spPr bwMode="auto">
          <a:xfrm>
            <a:off x="5577840" y="1572768"/>
            <a:ext cx="3108960" cy="475488"/>
          </a:xfrm>
          <a:prstGeom prst="rect">
            <a:avLst/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46897955" name="Text 12"/>
          <p:cNvSpPr/>
          <p:nvPr/>
        </p:nvSpPr>
        <p:spPr bwMode="auto">
          <a:xfrm>
            <a:off x="5623560" y="1572768"/>
            <a:ext cx="30175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RAM × N čvorova</a:t>
            </a:r>
            <a:endParaRPr lang="en-US" sz="1100"/>
          </a:p>
        </p:txBody>
      </p:sp>
      <p:sp>
        <p:nvSpPr>
          <p:cNvPr id="1300509315" name="Shape 13"/>
          <p:cNvSpPr/>
          <p:nvPr/>
        </p:nvSpPr>
        <p:spPr bwMode="auto">
          <a:xfrm>
            <a:off x="457200" y="2103120"/>
            <a:ext cx="1737360" cy="4754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8562182" name="Text 14"/>
          <p:cNvSpPr/>
          <p:nvPr/>
        </p:nvSpPr>
        <p:spPr bwMode="auto">
          <a:xfrm>
            <a:off x="502920" y="21031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Write skaliranje</a:t>
            </a:r>
            <a:endParaRPr lang="en-US" sz="1100"/>
          </a:p>
        </p:txBody>
      </p:sp>
      <p:sp>
        <p:nvSpPr>
          <p:cNvPr id="477686864" name="Shape 15"/>
          <p:cNvSpPr/>
          <p:nvPr/>
        </p:nvSpPr>
        <p:spPr bwMode="auto">
          <a:xfrm>
            <a:off x="2286000" y="2103120"/>
            <a:ext cx="3200400" cy="4754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48322867" name="Text 16"/>
          <p:cNvSpPr/>
          <p:nvPr/>
        </p:nvSpPr>
        <p:spPr bwMode="auto">
          <a:xfrm>
            <a:off x="2331720" y="21031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❌ Jedan master</a:t>
            </a:r>
            <a:endParaRPr lang="en-US" sz="1100"/>
          </a:p>
        </p:txBody>
      </p:sp>
      <p:sp>
        <p:nvSpPr>
          <p:cNvPr id="598247725" name="Shape 17"/>
          <p:cNvSpPr/>
          <p:nvPr/>
        </p:nvSpPr>
        <p:spPr bwMode="auto">
          <a:xfrm>
            <a:off x="5577840" y="2103120"/>
            <a:ext cx="3108960" cy="4754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92035647" name="Text 18"/>
          <p:cNvSpPr/>
          <p:nvPr/>
        </p:nvSpPr>
        <p:spPr bwMode="auto">
          <a:xfrm>
            <a:off x="5623560" y="2103120"/>
            <a:ext cx="30175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✅ Automatski</a:t>
            </a:r>
            <a:endParaRPr lang="en-US" sz="1100"/>
          </a:p>
        </p:txBody>
      </p:sp>
      <p:sp>
        <p:nvSpPr>
          <p:cNvPr id="1342135999" name="Shape 19"/>
          <p:cNvSpPr/>
          <p:nvPr/>
        </p:nvSpPr>
        <p:spPr bwMode="auto">
          <a:xfrm>
            <a:off x="457200" y="2633472"/>
            <a:ext cx="1737360" cy="475488"/>
          </a:xfrm>
          <a:prstGeom prst="rect">
            <a:avLst/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273423199" name="Text 20"/>
          <p:cNvSpPr/>
          <p:nvPr/>
        </p:nvSpPr>
        <p:spPr bwMode="auto">
          <a:xfrm>
            <a:off x="502920" y="263347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Automatski failover</a:t>
            </a:r>
            <a:endParaRPr lang="en-US" sz="1100"/>
          </a:p>
        </p:txBody>
      </p:sp>
      <p:sp>
        <p:nvSpPr>
          <p:cNvPr id="341588588" name="Shape 21"/>
          <p:cNvSpPr/>
          <p:nvPr/>
        </p:nvSpPr>
        <p:spPr bwMode="auto">
          <a:xfrm>
            <a:off x="2286000" y="2633472"/>
            <a:ext cx="3200400" cy="475488"/>
          </a:xfrm>
          <a:prstGeom prst="rect">
            <a:avLst/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60407311" name="Text 22"/>
          <p:cNvSpPr/>
          <p:nvPr/>
        </p:nvSpPr>
        <p:spPr bwMode="auto">
          <a:xfrm>
            <a:off x="2331720" y="263347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✅ Sentinel koordiniše</a:t>
            </a:r>
            <a:endParaRPr lang="en-US" sz="1100"/>
          </a:p>
        </p:txBody>
      </p:sp>
      <p:sp>
        <p:nvSpPr>
          <p:cNvPr id="260371859" name="Shape 23"/>
          <p:cNvSpPr/>
          <p:nvPr/>
        </p:nvSpPr>
        <p:spPr bwMode="auto">
          <a:xfrm>
            <a:off x="5577840" y="2633472"/>
            <a:ext cx="3108960" cy="475488"/>
          </a:xfrm>
          <a:prstGeom prst="rect">
            <a:avLst/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426358628" name="Text 24"/>
          <p:cNvSpPr/>
          <p:nvPr/>
        </p:nvSpPr>
        <p:spPr bwMode="auto">
          <a:xfrm>
            <a:off x="5623560" y="2633472"/>
            <a:ext cx="30175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✅ Interno glasanje</a:t>
            </a:r>
            <a:endParaRPr lang="en-US" sz="1100"/>
          </a:p>
        </p:txBody>
      </p:sp>
      <p:sp>
        <p:nvSpPr>
          <p:cNvPr id="1159209112" name="Shape 25"/>
          <p:cNvSpPr/>
          <p:nvPr/>
        </p:nvSpPr>
        <p:spPr bwMode="auto">
          <a:xfrm>
            <a:off x="457200" y="3163824"/>
            <a:ext cx="1737360" cy="4754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97305407" name="Text 26"/>
          <p:cNvSpPr/>
          <p:nvPr/>
        </p:nvSpPr>
        <p:spPr bwMode="auto">
          <a:xfrm>
            <a:off x="502920" y="316382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Multi-key operacije</a:t>
            </a:r>
            <a:endParaRPr lang="en-US" sz="1100"/>
          </a:p>
        </p:txBody>
      </p:sp>
      <p:sp>
        <p:nvSpPr>
          <p:cNvPr id="1172483767" name="Shape 27"/>
          <p:cNvSpPr/>
          <p:nvPr/>
        </p:nvSpPr>
        <p:spPr bwMode="auto">
          <a:xfrm>
            <a:off x="2286000" y="3163824"/>
            <a:ext cx="3200400" cy="4754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77613108" name="Text 28"/>
          <p:cNvSpPr/>
          <p:nvPr/>
        </p:nvSpPr>
        <p:spPr bwMode="auto">
          <a:xfrm>
            <a:off x="2331720" y="316382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✅ Potpuna podrška</a:t>
            </a:r>
            <a:endParaRPr lang="en-US" sz="1100"/>
          </a:p>
        </p:txBody>
      </p:sp>
      <p:sp>
        <p:nvSpPr>
          <p:cNvPr id="252270872" name="Shape 29"/>
          <p:cNvSpPr/>
          <p:nvPr/>
        </p:nvSpPr>
        <p:spPr bwMode="auto">
          <a:xfrm>
            <a:off x="5577840" y="3163824"/>
            <a:ext cx="3108960" cy="4754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77301707" name="Text 30"/>
          <p:cNvSpPr/>
          <p:nvPr/>
        </p:nvSpPr>
        <p:spPr bwMode="auto">
          <a:xfrm>
            <a:off x="5623560" y="3163824"/>
            <a:ext cx="30175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⚠ Samo isti hash slot</a:t>
            </a:r>
            <a:endParaRPr lang="en-US" sz="1100"/>
          </a:p>
        </p:txBody>
      </p:sp>
      <p:sp>
        <p:nvSpPr>
          <p:cNvPr id="253733789" name="Shape 31"/>
          <p:cNvSpPr/>
          <p:nvPr/>
        </p:nvSpPr>
        <p:spPr bwMode="auto">
          <a:xfrm>
            <a:off x="457200" y="3694176"/>
            <a:ext cx="1737360" cy="475488"/>
          </a:xfrm>
          <a:prstGeom prst="rect">
            <a:avLst/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78075604" name="Text 32"/>
          <p:cNvSpPr/>
          <p:nvPr/>
        </p:nvSpPr>
        <p:spPr bwMode="auto">
          <a:xfrm>
            <a:off x="502920" y="369417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Min. čvorova</a:t>
            </a:r>
            <a:endParaRPr lang="en-US" sz="1100"/>
          </a:p>
        </p:txBody>
      </p:sp>
      <p:sp>
        <p:nvSpPr>
          <p:cNvPr id="359289417" name="Shape 33"/>
          <p:cNvSpPr/>
          <p:nvPr/>
        </p:nvSpPr>
        <p:spPr bwMode="auto">
          <a:xfrm>
            <a:off x="2286000" y="3694176"/>
            <a:ext cx="3200400" cy="475488"/>
          </a:xfrm>
          <a:prstGeom prst="rect">
            <a:avLst/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01983834" name="Text 34"/>
          <p:cNvSpPr/>
          <p:nvPr/>
        </p:nvSpPr>
        <p:spPr bwMode="auto">
          <a:xfrm>
            <a:off x="2331720" y="369417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1 master + 2 replike</a:t>
            </a:r>
            <a:endParaRPr lang="en-US" sz="1100"/>
          </a:p>
        </p:txBody>
      </p:sp>
      <p:sp>
        <p:nvSpPr>
          <p:cNvPr id="2031974971" name="Shape 35"/>
          <p:cNvSpPr/>
          <p:nvPr/>
        </p:nvSpPr>
        <p:spPr bwMode="auto">
          <a:xfrm>
            <a:off x="5577840" y="3694176"/>
            <a:ext cx="3108960" cy="475488"/>
          </a:xfrm>
          <a:prstGeom prst="rect">
            <a:avLst/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3982607" name="Text 36"/>
          <p:cNvSpPr/>
          <p:nvPr/>
        </p:nvSpPr>
        <p:spPr bwMode="auto">
          <a:xfrm>
            <a:off x="5623560" y="3694176"/>
            <a:ext cx="30175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3 master + 3 replike</a:t>
            </a:r>
            <a:endParaRPr lang="en-US" sz="1100"/>
          </a:p>
        </p:txBody>
      </p:sp>
      <p:sp>
        <p:nvSpPr>
          <p:cNvPr id="1283977908" name="Shape 37"/>
          <p:cNvSpPr/>
          <p:nvPr/>
        </p:nvSpPr>
        <p:spPr bwMode="auto">
          <a:xfrm>
            <a:off x="457200" y="4224528"/>
            <a:ext cx="1737360" cy="4754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68393515" name="Text 38"/>
          <p:cNvSpPr/>
          <p:nvPr/>
        </p:nvSpPr>
        <p:spPr bwMode="auto">
          <a:xfrm>
            <a:off x="502920" y="422452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Složenost</a:t>
            </a:r>
            <a:endParaRPr lang="en-US" sz="1100"/>
          </a:p>
        </p:txBody>
      </p:sp>
      <p:sp>
        <p:nvSpPr>
          <p:cNvPr id="2089478028" name="Shape 39"/>
          <p:cNvSpPr/>
          <p:nvPr/>
        </p:nvSpPr>
        <p:spPr bwMode="auto">
          <a:xfrm>
            <a:off x="2286000" y="4224528"/>
            <a:ext cx="3200400" cy="4754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17245118" name="Text 40"/>
          <p:cNvSpPr/>
          <p:nvPr/>
        </p:nvSpPr>
        <p:spPr bwMode="auto">
          <a:xfrm>
            <a:off x="2331720" y="422452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★★☆ Niža</a:t>
            </a:r>
            <a:endParaRPr lang="en-US" sz="1100"/>
          </a:p>
        </p:txBody>
      </p:sp>
      <p:sp>
        <p:nvSpPr>
          <p:cNvPr id="545998423" name="Shape 41"/>
          <p:cNvSpPr/>
          <p:nvPr/>
        </p:nvSpPr>
        <p:spPr bwMode="auto">
          <a:xfrm>
            <a:off x="5577840" y="4224528"/>
            <a:ext cx="3108960" cy="4754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67317395" name="Text 42"/>
          <p:cNvSpPr/>
          <p:nvPr/>
        </p:nvSpPr>
        <p:spPr bwMode="auto">
          <a:xfrm>
            <a:off x="5623560" y="4224528"/>
            <a:ext cx="30175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★★★★ Viša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367167" name="Text 0"/>
          <p:cNvSpPr/>
          <p:nvPr/>
        </p:nvSpPr>
        <p:spPr bwMode="auto"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Demo — Redis HA Monitor</a:t>
            </a:r>
            <a:endParaRPr lang="en-US" sz="3000"/>
          </a:p>
        </p:txBody>
      </p:sp>
      <p:sp>
        <p:nvSpPr>
          <p:cNvPr id="58089542" name="Text 1"/>
          <p:cNvSpPr/>
          <p:nvPr/>
        </p:nvSpPr>
        <p:spPr bwMode="auto"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Node.js aplikacija za live monitoring Sentinel klastera</a:t>
            </a:r>
            <a:endParaRPr lang="en-US" sz="1300"/>
          </a:p>
        </p:txBody>
      </p:sp>
      <p:sp>
        <p:nvSpPr>
          <p:cNvPr id="1860062936" name="Shape 2"/>
          <p:cNvSpPr/>
          <p:nvPr/>
        </p:nvSpPr>
        <p:spPr bwMode="auto"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1497094753" name="Shape 3"/>
          <p:cNvSpPr/>
          <p:nvPr/>
        </p:nvSpPr>
        <p:spPr bwMode="auto">
          <a:xfrm>
            <a:off x="457200" y="1401318"/>
            <a:ext cx="4023360" cy="1170432"/>
          </a:xfrm>
          <a:prstGeom prst="roundRect">
            <a:avLst>
              <a:gd name="adj" fmla="val 9375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247189368" name="Text 4"/>
          <p:cNvSpPr/>
          <p:nvPr/>
        </p:nvSpPr>
        <p:spPr bwMode="auto">
          <a:xfrm>
            <a:off x="594360" y="163220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🐳</a:t>
            </a:r>
            <a:endParaRPr lang="en-US" sz="2400"/>
          </a:p>
        </p:txBody>
      </p:sp>
      <p:sp>
        <p:nvSpPr>
          <p:cNvPr id="244742893" name="Text 5"/>
          <p:cNvSpPr/>
          <p:nvPr/>
        </p:nvSpPr>
        <p:spPr bwMode="auto">
          <a:xfrm>
            <a:off x="1280160" y="1485900"/>
            <a:ext cx="30175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Infrastruktura</a:t>
            </a:r>
            <a:endParaRPr lang="en-US" sz="1300"/>
          </a:p>
        </p:txBody>
      </p:sp>
      <p:sp>
        <p:nvSpPr>
          <p:cNvPr id="1031489876" name="Text 6"/>
          <p:cNvSpPr/>
          <p:nvPr/>
        </p:nvSpPr>
        <p:spPr bwMode="auto">
          <a:xfrm>
            <a:off x="1280160" y="1929384"/>
            <a:ext cx="30175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1 master · 2 replike · 1 Sentinel</a:t>
            </a:r>
            <a:endParaRPr lang="en-US" sz="1100"/>
          </a:p>
        </p:txBody>
      </p:sp>
      <p:sp>
        <p:nvSpPr>
          <p:cNvPr id="1747885051" name="Shape 7"/>
          <p:cNvSpPr/>
          <p:nvPr/>
        </p:nvSpPr>
        <p:spPr bwMode="auto">
          <a:xfrm>
            <a:off x="4800600" y="1401318"/>
            <a:ext cx="4023360" cy="1170432"/>
          </a:xfrm>
          <a:prstGeom prst="roundRect">
            <a:avLst>
              <a:gd name="adj" fmla="val 9375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10562430" name="Text 8"/>
          <p:cNvSpPr/>
          <p:nvPr/>
        </p:nvSpPr>
        <p:spPr bwMode="auto">
          <a:xfrm>
            <a:off x="4937760" y="163220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🟢</a:t>
            </a:r>
            <a:endParaRPr lang="en-US" sz="2400"/>
          </a:p>
        </p:txBody>
      </p:sp>
      <p:sp>
        <p:nvSpPr>
          <p:cNvPr id="856937879" name="Text 9"/>
          <p:cNvSpPr/>
          <p:nvPr/>
        </p:nvSpPr>
        <p:spPr bwMode="auto">
          <a:xfrm>
            <a:off x="5623560" y="1545336"/>
            <a:ext cx="30175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6D6A0"/>
                </a:solidFill>
                <a:latin typeface="Calibri"/>
                <a:ea typeface="Calibri"/>
                <a:cs typeface="Calibri"/>
              </a:rPr>
              <a:t>Node.js backend</a:t>
            </a:r>
            <a:endParaRPr lang="en-US" sz="1300"/>
          </a:p>
        </p:txBody>
      </p:sp>
      <p:sp>
        <p:nvSpPr>
          <p:cNvPr id="1764026837" name="Text 10"/>
          <p:cNvSpPr/>
          <p:nvPr/>
        </p:nvSpPr>
        <p:spPr bwMode="auto">
          <a:xfrm>
            <a:off x="5623560" y="1929384"/>
            <a:ext cx="30175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Express + Socket.IO + ioredis</a:t>
            </a:r>
            <a:endParaRPr lang="en-US" sz="1100"/>
          </a:p>
        </p:txBody>
      </p:sp>
      <p:sp>
        <p:nvSpPr>
          <p:cNvPr id="1335816209" name="Shape 11"/>
          <p:cNvSpPr/>
          <p:nvPr/>
        </p:nvSpPr>
        <p:spPr bwMode="auto">
          <a:xfrm>
            <a:off x="457200" y="2752343"/>
            <a:ext cx="4023360" cy="1170432"/>
          </a:xfrm>
          <a:prstGeom prst="roundRect">
            <a:avLst>
              <a:gd name="adj" fmla="val 9375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920565601" name="Text 12"/>
          <p:cNvSpPr/>
          <p:nvPr/>
        </p:nvSpPr>
        <p:spPr bwMode="auto">
          <a:xfrm>
            <a:off x="594360" y="30449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📊</a:t>
            </a:r>
            <a:endParaRPr lang="en-US" sz="2400"/>
          </a:p>
        </p:txBody>
      </p:sp>
      <p:sp>
        <p:nvSpPr>
          <p:cNvPr id="91049527" name="Text 13"/>
          <p:cNvSpPr/>
          <p:nvPr/>
        </p:nvSpPr>
        <p:spPr bwMode="auto">
          <a:xfrm>
            <a:off x="1280160" y="2894076"/>
            <a:ext cx="30175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Live dashboard</a:t>
            </a:r>
            <a:endParaRPr lang="en-US" sz="1300"/>
          </a:p>
        </p:txBody>
      </p:sp>
      <p:sp>
        <p:nvSpPr>
          <p:cNvPr id="1263233690" name="Text 14"/>
          <p:cNvSpPr/>
          <p:nvPr/>
        </p:nvSpPr>
        <p:spPr bwMode="auto">
          <a:xfrm>
            <a:off x="1280160" y="3337560"/>
            <a:ext cx="30175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Realtime grafovi, metrike, topologija</a:t>
            </a:r>
            <a:endParaRPr lang="en-US" sz="1100"/>
          </a:p>
        </p:txBody>
      </p:sp>
      <p:sp>
        <p:nvSpPr>
          <p:cNvPr id="279016019" name="Shape 15"/>
          <p:cNvSpPr/>
          <p:nvPr/>
        </p:nvSpPr>
        <p:spPr bwMode="auto">
          <a:xfrm>
            <a:off x="4800600" y="2756915"/>
            <a:ext cx="4023360" cy="1170432"/>
          </a:xfrm>
          <a:prstGeom prst="roundRect">
            <a:avLst>
              <a:gd name="adj" fmla="val 9375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284417655" name="Text 16"/>
          <p:cNvSpPr/>
          <p:nvPr/>
        </p:nvSpPr>
        <p:spPr bwMode="auto">
          <a:xfrm>
            <a:off x="4937760" y="30449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⚡</a:t>
            </a:r>
            <a:endParaRPr lang="en-US" sz="2400"/>
          </a:p>
        </p:txBody>
      </p:sp>
      <p:sp>
        <p:nvSpPr>
          <p:cNvPr id="1397135813" name="Text 17"/>
          <p:cNvSpPr/>
          <p:nvPr/>
        </p:nvSpPr>
        <p:spPr bwMode="auto">
          <a:xfrm>
            <a:off x="5623560" y="2898648"/>
            <a:ext cx="30175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EF233C"/>
                </a:solidFill>
                <a:latin typeface="Calibri"/>
                <a:ea typeface="Calibri"/>
                <a:cs typeface="Calibri"/>
              </a:rPr>
              <a:t>Failover test</a:t>
            </a:r>
            <a:endParaRPr lang="en-US" sz="1300"/>
          </a:p>
        </p:txBody>
      </p:sp>
      <p:sp>
        <p:nvSpPr>
          <p:cNvPr id="176552599" name="Text 18"/>
          <p:cNvSpPr/>
          <p:nvPr/>
        </p:nvSpPr>
        <p:spPr bwMode="auto">
          <a:xfrm>
            <a:off x="5623560" y="3337560"/>
            <a:ext cx="30175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Simulacija pada i automatski oporavak</a:t>
            </a:r>
            <a:endParaRPr lang="en-US" sz="1100"/>
          </a:p>
        </p:txBody>
      </p:sp>
      <p:sp>
        <p:nvSpPr>
          <p:cNvPr id="291808284" name="Shape 19"/>
          <p:cNvSpPr/>
          <p:nvPr/>
        </p:nvSpPr>
        <p:spPr bwMode="auto">
          <a:xfrm>
            <a:off x="457200" y="4133088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060E18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7624647" name="Text 20"/>
          <p:cNvSpPr/>
          <p:nvPr/>
        </p:nvSpPr>
        <p:spPr bwMode="auto">
          <a:xfrm>
            <a:off x="640080" y="4133088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0B4D8"/>
                </a:solidFill>
                <a:latin typeface="Courier New"/>
                <a:ea typeface="Courier New"/>
                <a:cs typeface="Courier New"/>
              </a:rPr>
              <a:t>npm install  →  redis-server (master + replika + sentinel)  →  npm start  →  localhost:3000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039505" name="Text 0"/>
          <p:cNvSpPr/>
          <p:nvPr/>
        </p:nvSpPr>
        <p:spPr bwMode="auto"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Rezultati testiranja</a:t>
            </a:r>
            <a:endParaRPr lang="en-US" sz="3000"/>
          </a:p>
        </p:txBody>
      </p:sp>
      <p:sp>
        <p:nvSpPr>
          <p:cNvPr id="1475465642" name="Text 1"/>
          <p:cNvSpPr/>
          <p:nvPr/>
        </p:nvSpPr>
        <p:spPr bwMode="auto"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Windows 10 </a:t>
            </a:r>
            <a:r>
              <a:rPr lang="sr-Latn-RS" sz="13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-</a:t>
            </a:r>
            <a:r>
              <a:rPr lang="en-US" sz="13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 Redis 3.0 </a:t>
            </a:r>
            <a:r>
              <a:rPr lang="sr-Latn-RS" sz="13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-</a:t>
            </a:r>
            <a:r>
              <a:rPr lang="en-US" sz="13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 Node.js 20 </a:t>
            </a:r>
            <a:r>
              <a:rPr lang="sr-Latn-RS" sz="13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-</a:t>
            </a:r>
            <a:r>
              <a:rPr lang="en-US" sz="13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 lokalno okruženje</a:t>
            </a:r>
            <a:endParaRPr lang="en-US" sz="1300"/>
          </a:p>
        </p:txBody>
      </p:sp>
      <p:sp>
        <p:nvSpPr>
          <p:cNvPr id="222481098" name="Shape 2"/>
          <p:cNvSpPr/>
          <p:nvPr/>
        </p:nvSpPr>
        <p:spPr bwMode="auto"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1665116825" name="Shape 3"/>
          <p:cNvSpPr/>
          <p:nvPr/>
        </p:nvSpPr>
        <p:spPr bwMode="auto">
          <a:xfrm>
            <a:off x="457200" y="1330342"/>
            <a:ext cx="1874520" cy="1508759"/>
          </a:xfrm>
          <a:prstGeom prst="roundRect">
            <a:avLst>
              <a:gd name="adj" fmla="val 7273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346160334" name="Text 4"/>
          <p:cNvSpPr/>
          <p:nvPr/>
        </p:nvSpPr>
        <p:spPr bwMode="auto">
          <a:xfrm>
            <a:off x="457200" y="148115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8–15</a:t>
            </a:r>
            <a:r>
              <a:rPr lang="sr-Latn-RS" sz="3200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00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s</a:t>
            </a:r>
            <a:endParaRPr lang="en-US" sz="3200"/>
          </a:p>
        </p:txBody>
      </p:sp>
      <p:sp>
        <p:nvSpPr>
          <p:cNvPr id="1647850673" name="Text 5"/>
          <p:cNvSpPr/>
          <p:nvPr/>
        </p:nvSpPr>
        <p:spPr bwMode="auto">
          <a:xfrm>
            <a:off x="548640" y="22219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Failover vreme</a:t>
            </a:r>
            <a:endParaRPr lang="en-US" sz="1000"/>
          </a:p>
        </p:txBody>
      </p:sp>
      <p:sp>
        <p:nvSpPr>
          <p:cNvPr id="1321931233" name="Shape 6"/>
          <p:cNvSpPr/>
          <p:nvPr/>
        </p:nvSpPr>
        <p:spPr bwMode="auto">
          <a:xfrm>
            <a:off x="2514600" y="1330342"/>
            <a:ext cx="1874520" cy="1508759"/>
          </a:xfrm>
          <a:prstGeom prst="roundRect">
            <a:avLst>
              <a:gd name="adj" fmla="val 7273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39398299" name="Text 7"/>
          <p:cNvSpPr/>
          <p:nvPr/>
        </p:nvSpPr>
        <p:spPr bwMode="auto">
          <a:xfrm>
            <a:off x="2542031" y="148115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16</a:t>
            </a:r>
            <a:r>
              <a:rPr lang="sr-Latn-RS" sz="32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ms</a:t>
            </a:r>
            <a:endParaRPr lang="en-US" sz="3200"/>
          </a:p>
        </p:txBody>
      </p:sp>
      <p:sp>
        <p:nvSpPr>
          <p:cNvPr id="351454744" name="Text 8"/>
          <p:cNvSpPr/>
          <p:nvPr/>
        </p:nvSpPr>
        <p:spPr bwMode="auto">
          <a:xfrm>
            <a:off x="2633472" y="22219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Replikaciono kašnjenje</a:t>
            </a:r>
            <a:endParaRPr lang="en-US" sz="1000"/>
          </a:p>
        </p:txBody>
      </p:sp>
      <p:sp>
        <p:nvSpPr>
          <p:cNvPr id="1838560516" name="Shape 9"/>
          <p:cNvSpPr/>
          <p:nvPr/>
        </p:nvSpPr>
        <p:spPr bwMode="auto">
          <a:xfrm>
            <a:off x="4626864" y="1330342"/>
            <a:ext cx="1874520" cy="1508759"/>
          </a:xfrm>
          <a:prstGeom prst="roundRect">
            <a:avLst>
              <a:gd name="adj" fmla="val 7273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685037343" name="Text 10"/>
          <p:cNvSpPr/>
          <p:nvPr/>
        </p:nvSpPr>
        <p:spPr bwMode="auto">
          <a:xfrm>
            <a:off x="4626864" y="148115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06D6A0"/>
                </a:solidFill>
                <a:latin typeface="Calibri"/>
                <a:ea typeface="Calibri"/>
                <a:cs typeface="Calibri"/>
              </a:rPr>
              <a:t>166</a:t>
            </a:r>
            <a:r>
              <a:rPr lang="sr-Latn-RS" sz="3200" b="1">
                <a:solidFill>
                  <a:srgbClr val="06D6A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00" b="1">
                <a:solidFill>
                  <a:srgbClr val="06D6A0"/>
                </a:solidFill>
                <a:latin typeface="Calibri"/>
                <a:ea typeface="Calibri"/>
                <a:cs typeface="Calibri"/>
              </a:rPr>
              <a:t>K/s</a:t>
            </a:r>
            <a:endParaRPr lang="en-US" sz="3200"/>
          </a:p>
        </p:txBody>
      </p:sp>
      <p:sp>
        <p:nvSpPr>
          <p:cNvPr id="1907726461" name="Text 11"/>
          <p:cNvSpPr/>
          <p:nvPr/>
        </p:nvSpPr>
        <p:spPr bwMode="auto">
          <a:xfrm>
            <a:off x="4718304" y="22219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Write ops/sec</a:t>
            </a:r>
            <a:endParaRPr lang="en-US" sz="1000"/>
          </a:p>
        </p:txBody>
      </p:sp>
      <p:sp>
        <p:nvSpPr>
          <p:cNvPr id="1069045018" name="Shape 12"/>
          <p:cNvSpPr/>
          <p:nvPr/>
        </p:nvSpPr>
        <p:spPr bwMode="auto">
          <a:xfrm>
            <a:off x="6711696" y="1330342"/>
            <a:ext cx="1874520" cy="1508759"/>
          </a:xfrm>
          <a:prstGeom prst="roundRect">
            <a:avLst>
              <a:gd name="adj" fmla="val 7273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483402333" name="Text 13"/>
          <p:cNvSpPr/>
          <p:nvPr/>
        </p:nvSpPr>
        <p:spPr bwMode="auto">
          <a:xfrm>
            <a:off x="6720840" y="148115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06D6A0"/>
                </a:solidFill>
                <a:latin typeface="Calibri"/>
                <a:ea typeface="Calibri"/>
                <a:cs typeface="Calibri"/>
              </a:rPr>
              <a:t>250</a:t>
            </a:r>
            <a:r>
              <a:rPr lang="sr-Latn-RS" sz="3200" b="1">
                <a:solidFill>
                  <a:srgbClr val="06D6A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00" b="1">
                <a:solidFill>
                  <a:srgbClr val="06D6A0"/>
                </a:solidFill>
                <a:latin typeface="Calibri"/>
                <a:ea typeface="Calibri"/>
                <a:cs typeface="Calibri"/>
              </a:rPr>
              <a:t>K/s</a:t>
            </a:r>
            <a:endParaRPr lang="en-US" sz="3200"/>
          </a:p>
        </p:txBody>
      </p:sp>
      <p:sp>
        <p:nvSpPr>
          <p:cNvPr id="1952578560" name="Text 14"/>
          <p:cNvSpPr/>
          <p:nvPr/>
        </p:nvSpPr>
        <p:spPr bwMode="auto">
          <a:xfrm>
            <a:off x="6812280" y="22219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Read ops/sec</a:t>
            </a:r>
            <a:endParaRPr lang="en-US" sz="1000"/>
          </a:p>
        </p:txBody>
      </p:sp>
      <p:sp>
        <p:nvSpPr>
          <p:cNvPr id="1855316519" name="Shape 15"/>
          <p:cNvSpPr/>
          <p:nvPr/>
        </p:nvSpPr>
        <p:spPr bwMode="auto">
          <a:xfrm>
            <a:off x="457200" y="2990088"/>
            <a:ext cx="3886200" cy="1920240"/>
          </a:xfrm>
          <a:prstGeom prst="roundRect">
            <a:avLst>
              <a:gd name="adj" fmla="val 5714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44638485" name="Text 16"/>
          <p:cNvSpPr/>
          <p:nvPr/>
        </p:nvSpPr>
        <p:spPr bwMode="auto">
          <a:xfrm>
            <a:off x="640079" y="3026663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Replikaciono kašnjenje po scenariju</a:t>
            </a:r>
            <a:endParaRPr lang="en-US" sz="1100"/>
          </a:p>
        </p:txBody>
      </p:sp>
      <p:sp>
        <p:nvSpPr>
          <p:cNvPr id="1715998574" name="Text 17"/>
          <p:cNvSpPr/>
          <p:nvPr/>
        </p:nvSpPr>
        <p:spPr bwMode="auto">
          <a:xfrm>
            <a:off x="640080" y="34015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Idle</a:t>
            </a:r>
            <a:endParaRPr lang="en-US" sz="1000"/>
          </a:p>
        </p:txBody>
      </p:sp>
      <p:sp>
        <p:nvSpPr>
          <p:cNvPr id="1155708976" name="Shape 18"/>
          <p:cNvSpPr/>
          <p:nvPr/>
        </p:nvSpPr>
        <p:spPr bwMode="auto">
          <a:xfrm>
            <a:off x="1691640" y="3438144"/>
            <a:ext cx="144475" cy="182880"/>
          </a:xfrm>
          <a:prstGeom prst="roundRect">
            <a:avLst>
              <a:gd name="adj" fmla="val 31646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32383522" name="Text 19"/>
          <p:cNvSpPr/>
          <p:nvPr/>
        </p:nvSpPr>
        <p:spPr bwMode="auto">
          <a:xfrm>
            <a:off x="1881835" y="34015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6D6A0"/>
                </a:solidFill>
                <a:latin typeface="Calibri"/>
                <a:ea typeface="Calibri"/>
                <a:cs typeface="Calibri"/>
              </a:rPr>
              <a:t>16ms</a:t>
            </a:r>
            <a:endParaRPr lang="en-US" sz="1000"/>
          </a:p>
        </p:txBody>
      </p:sp>
      <p:sp>
        <p:nvSpPr>
          <p:cNvPr id="2121669417" name="Text 20"/>
          <p:cNvSpPr/>
          <p:nvPr/>
        </p:nvSpPr>
        <p:spPr bwMode="auto">
          <a:xfrm>
            <a:off x="640080" y="37307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100 ops/s</a:t>
            </a:r>
            <a:endParaRPr lang="en-US" sz="1000"/>
          </a:p>
        </p:txBody>
      </p:sp>
      <p:sp>
        <p:nvSpPr>
          <p:cNvPr id="574241735" name="Shape 21"/>
          <p:cNvSpPr/>
          <p:nvPr/>
        </p:nvSpPr>
        <p:spPr bwMode="auto">
          <a:xfrm>
            <a:off x="1678380" y="3767328"/>
            <a:ext cx="149962" cy="182880"/>
          </a:xfrm>
          <a:prstGeom prst="roundRect">
            <a:avLst>
              <a:gd name="adj" fmla="val 30488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1820455" name="Text 22"/>
          <p:cNvSpPr/>
          <p:nvPr/>
        </p:nvSpPr>
        <p:spPr bwMode="auto">
          <a:xfrm>
            <a:off x="1895094" y="37307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28ms</a:t>
            </a:r>
            <a:endParaRPr lang="en-US" sz="1000"/>
          </a:p>
        </p:txBody>
      </p:sp>
      <p:sp>
        <p:nvSpPr>
          <p:cNvPr id="455674570" name="Text 23"/>
          <p:cNvSpPr/>
          <p:nvPr/>
        </p:nvSpPr>
        <p:spPr bwMode="auto">
          <a:xfrm>
            <a:off x="640080" y="4101083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500 ops/s</a:t>
            </a:r>
            <a:endParaRPr lang="en-US" sz="1000"/>
          </a:p>
        </p:txBody>
      </p:sp>
      <p:sp>
        <p:nvSpPr>
          <p:cNvPr id="596499889" name="Shape 24"/>
          <p:cNvSpPr/>
          <p:nvPr/>
        </p:nvSpPr>
        <p:spPr bwMode="auto">
          <a:xfrm>
            <a:off x="1678380" y="4137659"/>
            <a:ext cx="157734" cy="182880"/>
          </a:xfrm>
          <a:prstGeom prst="roundRect">
            <a:avLst>
              <a:gd name="adj" fmla="val 28986"/>
            </a:avLst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854213947" name="Text 25"/>
          <p:cNvSpPr/>
          <p:nvPr/>
        </p:nvSpPr>
        <p:spPr bwMode="auto">
          <a:xfrm>
            <a:off x="1895094" y="4101083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F233C"/>
                </a:solidFill>
                <a:latin typeface="Calibri"/>
                <a:ea typeface="Calibri"/>
                <a:cs typeface="Calibri"/>
              </a:rPr>
              <a:t>45ms</a:t>
            </a:r>
            <a:endParaRPr lang="en-US" sz="1000"/>
          </a:p>
        </p:txBody>
      </p:sp>
      <p:sp>
        <p:nvSpPr>
          <p:cNvPr id="1067736996" name="Text 26"/>
          <p:cNvSpPr/>
          <p:nvPr/>
        </p:nvSpPr>
        <p:spPr bwMode="auto">
          <a:xfrm>
            <a:off x="640080" y="4480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Failover</a:t>
            </a:r>
            <a:endParaRPr lang="en-US" sz="1000"/>
          </a:p>
        </p:txBody>
      </p:sp>
      <p:sp>
        <p:nvSpPr>
          <p:cNvPr id="267848522" name="Shape 27"/>
          <p:cNvSpPr/>
          <p:nvPr/>
        </p:nvSpPr>
        <p:spPr bwMode="auto">
          <a:xfrm>
            <a:off x="1691639" y="4517136"/>
            <a:ext cx="2286000" cy="182880"/>
          </a:xfrm>
          <a:prstGeom prst="roundRect">
            <a:avLst>
              <a:gd name="adj" fmla="val 25000"/>
            </a:avLst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963689788" name="Text 28"/>
          <p:cNvSpPr/>
          <p:nvPr/>
        </p:nvSpPr>
        <p:spPr bwMode="auto">
          <a:xfrm>
            <a:off x="4023360" y="4389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F233C"/>
                </a:solidFill>
                <a:latin typeface="Calibri"/>
                <a:ea typeface="Calibri"/>
                <a:cs typeface="Calibri"/>
              </a:rPr>
              <a:t>4.8s</a:t>
            </a:r>
            <a:endParaRPr lang="en-US" sz="1000"/>
          </a:p>
        </p:txBody>
      </p:sp>
      <p:sp>
        <p:nvSpPr>
          <p:cNvPr id="255832353" name="Shape 29"/>
          <p:cNvSpPr/>
          <p:nvPr/>
        </p:nvSpPr>
        <p:spPr bwMode="auto">
          <a:xfrm>
            <a:off x="4572000" y="2990088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16284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97776500" name="Text 30"/>
          <p:cNvSpPr/>
          <p:nvPr/>
        </p:nvSpPr>
        <p:spPr bwMode="auto">
          <a:xfrm>
            <a:off x="4745736" y="3163823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Zašto ovako visok throughput?</a:t>
            </a:r>
            <a:endParaRPr lang="en-US" sz="1100"/>
          </a:p>
        </p:txBody>
      </p:sp>
      <p:sp>
        <p:nvSpPr>
          <p:cNvPr id="1844535830" name="Text 31"/>
          <p:cNvSpPr/>
          <p:nvPr/>
        </p:nvSpPr>
        <p:spPr bwMode="auto">
          <a:xfrm>
            <a:off x="4754880" y="3438143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Pipeline mehanizam šalje 100 komandi</a:t>
            </a:r>
            <a:endParaRPr lang="en-US" sz="1200"/>
          </a:p>
          <a:p>
            <a:pPr marL="0" indent="0">
              <a:buNone/>
              <a:defRPr/>
            </a:pPr>
            <a:r>
              <a:rPr lang="en-US" sz="12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odjednom umesto jednu po jednu.</a:t>
            </a:r>
            <a:endParaRPr lang="en-US" sz="1200"/>
          </a:p>
          <a:p>
            <a:pPr marL="0" indent="0">
              <a:buNone/>
              <a:defRPr/>
            </a:pPr>
            <a:endParaRPr lang="en-US" sz="1200"/>
          </a:p>
          <a:p>
            <a:pPr marL="0" indent="0">
              <a:buNone/>
              <a:defRPr/>
            </a:pPr>
            <a:r>
              <a:rPr lang="en-US" sz="12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To smanjuje broj network round-trip-ova</a:t>
            </a:r>
            <a:endParaRPr lang="en-US" sz="1200"/>
          </a:p>
          <a:p>
            <a:pPr marL="0" indent="0">
              <a:buNone/>
              <a:defRPr/>
            </a:pPr>
            <a:r>
              <a:rPr lang="en-US" sz="1200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sa 500 na samo 5 — otuda 166K ops/sec.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08142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522821" name="Text 1"/>
          <p:cNvSpPr/>
          <p:nvPr/>
        </p:nvSpPr>
        <p:spPr bwMode="auto"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F1FAEE"/>
                </a:solidFill>
                <a:latin typeface="Calibri"/>
                <a:ea typeface="Calibri"/>
                <a:cs typeface="Calibri"/>
              </a:rPr>
              <a:t>Zaključak</a:t>
            </a:r>
            <a:endParaRPr lang="en-US" sz="3000"/>
          </a:p>
        </p:txBody>
      </p:sp>
      <p:sp>
        <p:nvSpPr>
          <p:cNvPr id="1837445663" name="Shape 2"/>
          <p:cNvSpPr/>
          <p:nvPr/>
        </p:nvSpPr>
        <p:spPr bwMode="auto"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1769420656" name="Shape 3"/>
          <p:cNvSpPr/>
          <p:nvPr/>
        </p:nvSpPr>
        <p:spPr bwMode="auto">
          <a:xfrm>
            <a:off x="457200" y="137160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07132590" name="Text 4"/>
          <p:cNvSpPr/>
          <p:nvPr/>
        </p:nvSpPr>
        <p:spPr bwMode="auto">
          <a:xfrm>
            <a:off x="749808" y="1261872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Sentinel rešava dostupnost</a:t>
            </a:r>
            <a:endParaRPr lang="en-US" sz="1400"/>
          </a:p>
        </p:txBody>
      </p:sp>
      <p:sp>
        <p:nvSpPr>
          <p:cNvPr id="1747403296" name="Text 5"/>
          <p:cNvSpPr/>
          <p:nvPr/>
        </p:nvSpPr>
        <p:spPr bwMode="auto">
          <a:xfrm>
            <a:off x="749808" y="159105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Idealan za sisteme gde dataset staje u RAM jednog servera. Automatski failover za 8–15 sekundi.</a:t>
            </a:r>
            <a:endParaRPr lang="en-US" sz="1200"/>
          </a:p>
        </p:txBody>
      </p:sp>
      <p:sp>
        <p:nvSpPr>
          <p:cNvPr id="425876431" name="Shape 6"/>
          <p:cNvSpPr/>
          <p:nvPr/>
        </p:nvSpPr>
        <p:spPr bwMode="auto">
          <a:xfrm>
            <a:off x="457200" y="2240280"/>
            <a:ext cx="164592" cy="16459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98254678" name="Text 7"/>
          <p:cNvSpPr/>
          <p:nvPr/>
        </p:nvSpPr>
        <p:spPr bwMode="auto">
          <a:xfrm>
            <a:off x="749808" y="2130552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6D6A0"/>
                </a:solidFill>
                <a:latin typeface="Calibri"/>
                <a:ea typeface="Calibri"/>
                <a:cs typeface="Calibri"/>
              </a:rPr>
              <a:t>Cluster rešava skaliranje</a:t>
            </a:r>
            <a:endParaRPr lang="en-US" sz="1400"/>
          </a:p>
        </p:txBody>
      </p:sp>
      <p:sp>
        <p:nvSpPr>
          <p:cNvPr id="480017745" name="Text 8"/>
          <p:cNvSpPr/>
          <p:nvPr/>
        </p:nvSpPr>
        <p:spPr bwMode="auto">
          <a:xfrm>
            <a:off x="749808" y="2459735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Neophodan kada dataset premašuje jedan server ili kada treba horizontalno skalirati write-ove.</a:t>
            </a:r>
            <a:endParaRPr lang="en-US" sz="1200"/>
          </a:p>
        </p:txBody>
      </p:sp>
      <p:sp>
        <p:nvSpPr>
          <p:cNvPr id="1836714527" name="Shape 9"/>
          <p:cNvSpPr/>
          <p:nvPr/>
        </p:nvSpPr>
        <p:spPr bwMode="auto">
          <a:xfrm>
            <a:off x="457200" y="3108960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25624215" name="Text 10"/>
          <p:cNvSpPr/>
          <p:nvPr/>
        </p:nvSpPr>
        <p:spPr bwMode="auto">
          <a:xfrm>
            <a:off x="749808" y="2999232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AP kompromis je svesna odluka</a:t>
            </a:r>
            <a:endParaRPr lang="en-US" sz="1400"/>
          </a:p>
        </p:txBody>
      </p:sp>
      <p:sp>
        <p:nvSpPr>
          <p:cNvPr id="1682933264" name="Text 11"/>
          <p:cNvSpPr/>
          <p:nvPr/>
        </p:nvSpPr>
        <p:spPr bwMode="auto">
          <a:xfrm>
            <a:off x="749808" y="332841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Oba pristupa biraju dostupnost nad konzistentnosti — ispravno za keš, sesije i brojače.</a:t>
            </a:r>
            <a:endParaRPr lang="en-US" sz="1200"/>
          </a:p>
        </p:txBody>
      </p:sp>
      <p:sp>
        <p:nvSpPr>
          <p:cNvPr id="1152828214" name="Shape 12"/>
          <p:cNvSpPr/>
          <p:nvPr/>
        </p:nvSpPr>
        <p:spPr bwMode="auto">
          <a:xfrm>
            <a:off x="457200" y="3977640"/>
            <a:ext cx="164592" cy="164592"/>
          </a:xfrm>
          <a:prstGeom prst="ellipse">
            <a:avLst/>
          </a:prstGeom>
          <a:solidFill>
            <a:srgbClr val="8ECAE6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1790744187" name="Text 13"/>
          <p:cNvSpPr/>
          <p:nvPr/>
        </p:nvSpPr>
        <p:spPr bwMode="auto">
          <a:xfrm>
            <a:off x="749808" y="3867911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Redis je industrijski standard</a:t>
            </a:r>
            <a:endParaRPr lang="en-US" sz="1400"/>
          </a:p>
        </p:txBody>
      </p:sp>
      <p:sp>
        <p:nvSpPr>
          <p:cNvPr id="104498997" name="Text 14"/>
          <p:cNvSpPr/>
          <p:nvPr/>
        </p:nvSpPr>
        <p:spPr bwMode="auto">
          <a:xfrm>
            <a:off x="749808" y="419709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166K+ ops/sec, sub-ms latencija, automatski oporavak — to je razlog zašto ga koriste svi.</a:t>
            </a:r>
            <a:endParaRPr lang="en-US" sz="1200"/>
          </a:p>
        </p:txBody>
      </p:sp>
      <p:sp>
        <p:nvSpPr>
          <p:cNvPr id="1126635541" name="Shape 15"/>
          <p:cNvSpPr/>
          <p:nvPr/>
        </p:nvSpPr>
        <p:spPr bwMode="auto">
          <a:xfrm>
            <a:off x="457200" y="4645152"/>
            <a:ext cx="822960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903592695" name="Text 16"/>
          <p:cNvSpPr/>
          <p:nvPr/>
        </p:nvSpPr>
        <p:spPr bwMode="auto"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Hvala na pažnji</a:t>
            </a:r>
            <a:r>
              <a:rPr lang="sr-Latn-RS" sz="1100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!</a:t>
            </a:r>
            <a:r>
              <a:rPr lang="en-US" sz="1100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  ·  </a:t>
            </a:r>
            <a:r>
              <a:rPr lang="sr-Latn-RS" sz="1100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Aleksa Tomić</a:t>
            </a:r>
            <a:r>
              <a:rPr lang="en-US" sz="1100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 ·  Elektronski fakultet Niš  ·  </a:t>
            </a:r>
            <a:r>
              <a:rPr lang="sr-Latn-RS" sz="1100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jun </a:t>
            </a:r>
            <a:r>
              <a:rPr lang="en-US" sz="1100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2026.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Redis Sentinel - Replikacija i visoka dostupnost</dc:title>
  <dc:subject>PptxGenJS Presentation</dc:subject>
  <dc:creator>Aleksandar Stanimirovic</dc:creator>
  <cp:lastModifiedBy/>
  <cp:revision>2</cp:revision>
  <dcterms:created xsi:type="dcterms:W3CDTF">2026-06-09T13:04:13Z</dcterms:created>
  <dcterms:modified xsi:type="dcterms:W3CDTF">2026-06-09T18:27:40Z</dcterms:modified>
</cp:coreProperties>
</file>